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15b6d53e7c4756" /><Relationship Type="http://schemas.openxmlformats.org/officeDocument/2006/relationships/extended-properties" Target="/docProps/app.xml" Id="R25ed2c52149247ec" /><Relationship Type="http://schemas.openxmlformats.org/officeDocument/2006/relationships/officeDocument" Target="/ppt/presentation.xml" Id="R85bff8a44a8341f8" /></Relationships>
</file>

<file path=ppt/presentation.xml><?xml version="1.0" encoding="utf-8"?>
<p:presentation xmlns:p="http://schemas.openxmlformats.org/presentationml/2006/main">
  <p:sldMasterIdLst>
    <p:sldMasterId xmlns:r="http://schemas.openxmlformats.org/officeDocument/2006/relationships" id="2147483648" r:id="R13f99acabe6f46e5"/>
  </p:sldMasterIdLst>
  <p:notesMasterIdLst>
    <p:notesMasterId xmlns:r="http://schemas.openxmlformats.org/officeDocument/2006/relationships" r:id="R9f52061ac5804b43"/>
  </p:notesMasterIdLst>
  <p:sldIdLst>
    <p:sldId xmlns:r="http://schemas.openxmlformats.org/officeDocument/2006/relationships" id="256" r:id="R79e11279485b46f5"/>
    <p:sldId xmlns:r="http://schemas.openxmlformats.org/officeDocument/2006/relationships" id="257" r:id="R617bdfe2324e431e"/>
    <p:sldId xmlns:r="http://schemas.openxmlformats.org/officeDocument/2006/relationships" id="258" r:id="R449232dc76994bfb"/>
    <p:sldId xmlns:r="http://schemas.openxmlformats.org/officeDocument/2006/relationships" id="259" r:id="R7ebb215022a34cf2"/>
    <p:sldId xmlns:r="http://schemas.openxmlformats.org/officeDocument/2006/relationships" id="260" r:id="Rc18711c5e0144f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f2e4c195d2472a" /><Relationship Type="http://schemas.openxmlformats.org/officeDocument/2006/relationships/slideMaster" Target="/ppt/slideMasters/slideMaster1.xml" Id="R13f99acabe6f46e5" /><Relationship Type="http://schemas.openxmlformats.org/officeDocument/2006/relationships/notesMaster" Target="/ppt/notesMasters/notesMaster1.xml" Id="R9f52061ac5804b43" /><Relationship Type="http://schemas.openxmlformats.org/officeDocument/2006/relationships/presProps" Target="/ppt/presProps.xml" Id="R7f02692490904227" /><Relationship Type="http://schemas.openxmlformats.org/officeDocument/2006/relationships/tableStyles" Target="/ppt/tableStyles.xml" Id="R0346b9637ef0441e" /><Relationship Type="http://schemas.openxmlformats.org/officeDocument/2006/relationships/slide" Target="/ppt/slides/slide1.xml" Id="R79e11279485b46f5" /><Relationship Type="http://schemas.openxmlformats.org/officeDocument/2006/relationships/slide" Target="/ppt/slides/slide2.xml" Id="R617bdfe2324e431e" /><Relationship Type="http://schemas.openxmlformats.org/officeDocument/2006/relationships/slide" Target="/ppt/slides/slide3.xml" Id="R449232dc76994bfb" /><Relationship Type="http://schemas.openxmlformats.org/officeDocument/2006/relationships/slide" Target="/ppt/slides/slide4.xml" Id="R7ebb215022a34cf2" /><Relationship Type="http://schemas.openxmlformats.org/officeDocument/2006/relationships/slide" Target="/ppt/slides/slide5.xml" Id="Rc18711c5e0144f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000ba797194b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596ba2ee2e49fb" /><Relationship Type="http://schemas.openxmlformats.org/officeDocument/2006/relationships/notesMaster" Target="/ppt/notesMasters/notesMaster1.xml" Id="R2bee68a53e4342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84ce41b24b4a21" /><Relationship Type="http://schemas.openxmlformats.org/officeDocument/2006/relationships/notesMaster" Target="/ppt/notesMasters/notesMaster1.xml" Id="Ra79a806705ae4a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91605b759d4708" /><Relationship Type="http://schemas.openxmlformats.org/officeDocument/2006/relationships/notesMaster" Target="/ppt/notesMasters/notesMaster1.xml" Id="R86edc30084264e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caa6f8af1f4351" /><Relationship Type="http://schemas.openxmlformats.org/officeDocument/2006/relationships/notesMaster" Target="/ppt/notesMasters/notesMaster1.xml" Id="Rf7e1abbaafed4e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efd3ceb3e44c83" /><Relationship Type="http://schemas.openxmlformats.org/officeDocument/2006/relationships/notesMaster" Target="/ppt/notesMasters/notesMaster1.xml" Id="R93a8faad8e364b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의도와 사용자 선정 근거: 사용자가 제공한 현장 경험. 주변 학생에게 접근 가능하다는 점은 검증상의 이점이며, 인터뷰나 설문을 이미 수행했다는 뜻은 아니다. 다전공생이 대부분이라는 인식은 공식 통계로 검증하지 않았으므로 비율이나 과반 주장을 하지 않는다. 모든 학부생에게 졸업논문이 필수라고 일반화하지 않고, 공통 과제인 졸업요건 확인 중 논문 대상 학생의 절차를 범위로 설정한다.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서울대학교 화학생물공학부, 2025년 2월(2024학년도 전기) 졸업 신청 안내. 지도교수 신청, 계획서 교수 확인, 기한 이후 개별 승인 및 원본 제출 명시.</a:t>
            </a:r>
          </a:p>
          <a:p xmlns:a="http://schemas.openxmlformats.org/drawingml/2006/main">
            <a:r>
              <a:t>https://cbe.snu.ac.kr/cbe/common/file/fileDown.do?atchFileId=70854558f3f94a8b8d261d3b299e29d8&amp;fileSn=4</a:t>
            </a:r>
          </a:p>
          <a:p xmlns:a="http://schemas.openxmlformats.org/drawingml/2006/main">
            <a:r>
              <a:t>[2a] 서울대학교 기계공학부, 2026학년도 2학기 기계시스템설계1 주제소개 및 희망 지도교수 신청, 2026-07-21. 수강신청과 설문 모두 필요.</a:t>
            </a:r>
          </a:p>
          <a:p xmlns:a="http://schemas.openxmlformats.org/drawingml/2006/main">
            <a:r>
              <a:t>https://me.snu.ac.kr/학부-공지사항/document/21348/?mod=document&amp;pageid=2&amp;uid=22117</a:t>
            </a:r>
          </a:p>
          <a:p xmlns:a="http://schemas.openxmlformats.org/drawingml/2006/main">
            <a:r>
              <a:t>[2b] 2026학년도 1학기 기계시스템설계1,2 논문 교과목 제출 일정 안내. 교수 확인 메일과 논문 제출, 설계2 수강생 발표회 의무 참가 및 성적 반영 명시.</a:t>
            </a:r>
          </a:p>
          <a:p xmlns:a="http://schemas.openxmlformats.org/drawingml/2006/main">
            <a:r>
              <a:t>https://me.snu.ac.kr/학부-공지사항/document/20750/?mod=document&amp;uid=21701</a:t>
            </a:r>
          </a:p>
          <a:p xmlns:a="http://schemas.openxmlformats.org/drawingml/2006/main">
            <a:r>
              <a:t>[3] 서울대학교 지구환경과학부, 2024학년도 2학기 다전공 선발계획. 복수전공 요건에 포스터 발표와 졸업논문 제출 명시.</a:t>
            </a:r>
          </a:p>
          <a:p xmlns:a="http://schemas.openxmlformats.org/drawingml/2006/main">
            <a:r>
              <a:t>https://sees.snu.ac.kr/community/notice?bbsidx=17778&amp;md=v</a:t>
            </a:r>
          </a:p>
          <a:p xmlns:a="http://schemas.openxmlformats.org/drawingml/2006/main">
            <a:r>
              <a:t>확인일: 2026-09-22. 마지막 열과 하단 해석은 공지에 명시된 요구사항에서 도출한 사용자 과업이다. 실제 공지 사례이며 앱의 가상 학과 데이터와 구분한다. 연락처·실명은 자료에 전재하지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상황적 관찰: 서울대학교에는 다전공생이 많다는 경험, 학과별로 메일·게시판 등 다른 방식으로 안내한다는 점, 복수전공 학과에 아는 사람이 없어 익명 커뮤니티에 질문한다는 점. 표 가운데 열은 해당 관찰을 바탕으로 정의한 사용자 과업이며, 오른쪽의 누락·지연은 잠재적 영향이다. 정량 설문이나 공식 발생률을 조사한 결과로 제시하지 않는다. 커뮤니티 전체가 부정확하다고 단정하지 않고, 개별 답변의 최신성과 적용 가능성을 검증하기 어렵다는 문제로 정의한다.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학생은 전공별 요약과 탭을 통해 각각의 로드맵을 확인합니다. 현재 구현의 다음 할 일은 선택한 전공을 기준으로 표시합니다. 통합 캘린더는 모든 전공의 마감, 확정 면담, 공지 일정을 합쳐 보여주며 월간·타임라인 전환과 전공별 필터를 지원합니다. 신청서와 제출물은 임시저장, 제출 및 수정 요청에 따른 재제출을 지원합니다. 스크린샷은 이 프로젝트를 로컬에서 실행해 캡처했습니다.</a:t>
            </a:r>
          </a:p>
          <a:p xmlns:a="http://schemas.openxmlformats.org/drawingml/2006/main">
            <a:r>
              <a:t>출처: components/student-board.tsx, components/calendar.tsx, components/roadmap.tsx, components/meeting-grid.tsx, data/seed.ts.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학과 조교는 단계 추가·삭제·순서 변경과 대상, 제출처, 서식을 편집하고 학생 로드맵을 미리 본 뒤 게시할 수 있습니다. 교수는 신청·연구계획서·최종논문을 검토하고 수정 요청의 이유를 남기며 면담 시간을 제안할 수 있습니다. 피드백과 알림은 학생 화면에 연결됩니다. 정원이 찬 경우 신청·승인을 제한합니다. 이는 현재 작업 트리의 구현 기준이며 오래된 README 및 초기 화면 초안과 일부 다릅니다. 기대 효과는 사용자 검증 전의 목표입니다.</a:t>
            </a:r>
          </a:p>
          <a:p xmlns:a="http://schemas.openxmlformats.org/drawingml/2006/main">
            <a:r>
              <a:t>구현 범위: Next.js, TypeScript, Tailwind CSS, Zustand persist(localStorage). 서버 DB나 외부 API 없이 동일 브라우저 안에서 역할 전환으로 시연합니다.</a:t>
            </a:r>
          </a:p>
          <a:p xmlns:a="http://schemas.openxmlformats.org/drawingml/2006/main">
            <a:r>
              <a:t>출처: components/professor-board.tsx, components/admin-board.tsx, lib/store.ts, lib/rules.ts, 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4ebb0b55d643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88e427d3c04c4b" /><Relationship Type="http://schemas.openxmlformats.org/officeDocument/2006/relationships/slideLayout" Target="/ppt/slideLayouts/slideLayout1.xml" Id="R3b4e4cb7f2804c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4e4cb7f2804c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cdc10dc3224d7e" /><Relationship Type="http://schemas.openxmlformats.org/officeDocument/2006/relationships/notesSlide" Target="/ppt/notesSlides/notesSlide1.xml" Id="R9428740020ea4f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5436917b1c4474" /><Relationship Type="http://schemas.openxmlformats.org/officeDocument/2006/relationships/hyperlink" Target="https://cbe.snu.ac.kr/cbe/common/file/fileDown.do?atchFileId=70854558f3f94a8b8d261d3b299e29d8&amp;fileSn=4" TargetMode="External" Id="R71f2635dfa514d37" /><Relationship Type="http://schemas.openxmlformats.org/officeDocument/2006/relationships/hyperlink" Target="https://me.snu.ac.kr/&#54617;&#48512;-&#44277;&#51648;&#49324;&#54637;/document/21348/?mod=document&amp;pageid=2&amp;uid=22117" TargetMode="External" Id="R51c7a4ea04564886" /><Relationship Type="http://schemas.openxmlformats.org/officeDocument/2006/relationships/hyperlink" Target="https://me.snu.ac.kr/&#54617;&#48512;-&#44277;&#51648;&#49324;&#54637;/document/20750/?mod=document&amp;uid=21701" TargetMode="External" Id="Rfd8303aa074f4c80" /><Relationship Type="http://schemas.openxmlformats.org/officeDocument/2006/relationships/hyperlink" Target="https://sees.snu.ac.kr/community/notice?bbsidx=17778&amp;md=v" TargetMode="External" Id="R320d7ebb5fd94293" /><Relationship Type="http://schemas.openxmlformats.org/officeDocument/2006/relationships/notesSlide" Target="/ppt/notesSlides/notesSlide2.xml" Id="R6da740cdd42741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48f03e78154ee6" /><Relationship Type="http://schemas.openxmlformats.org/officeDocument/2006/relationships/notesSlide" Target="/ppt/notesSlides/notesSlide3.xml" Id="Recaaf424101c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9a300a3b114704" /><Relationship Type="http://schemas.openxmlformats.org/officeDocument/2006/relationships/image" Target="/ppt/media/image.png" Id="Ra9f0f2f8d0bd4a5d" /><Relationship Type="http://schemas.openxmlformats.org/officeDocument/2006/relationships/notesSlide" Target="/ppt/notesSlides/notesSlide4.xml" Id="R55afd88dc97d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06567113df411c" /><Relationship Type="http://schemas.openxmlformats.org/officeDocument/2006/relationships/notesSlide" Target="/ppt/notesSlides/notesSlide5.xml" Id="Rc11f7477885043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졸업논문 진행 관리 보드">
            <a:extLst xmlns:a="http://schemas.openxmlformats.org/drawingml/2006/main">
              <a:ext uri="{FF2B5EF4-FFF2-40B4-BE49-F238E27FC236}">
                <a16:creationId xmlns:a16="http://schemas.microsoft.com/office/drawing/2014/main" id="{BDB72518-1C28-4C3C-A0D2-C7E528F4DA61}"/>
              </a:ext>
            </a:extLst>
          </p:cNvPr>
          <p:cNvSpPr>
            <a:spLocks xmlns:a="http://schemas.openxmlformats.org/drawingml/2006/main" noGrp="1"/>
          </p:cNvSpPr>
          <p:nvPr/>
        </p:nvSpPr>
        <p:spPr>
          <a:xfrm xmlns:a="http://schemas.openxmlformats.org/drawingml/2006/main">
            <a:off x="533400" y="361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42C40"/>
                </a:solidFill>
                <a:latin typeface="Apple SD Gothic Neo"/>
                <a:ea typeface="Apple SD Gothic Neo"/>
                <a:cs typeface="Apple SD Gothic Neo"/>
              </a:defRPr>
            </a:pPr>
            <a:r>
              <a:rPr sz="3675" b="1">
                <a:solidFill>
                  <a:srgbClr val="142C40"/>
                </a:solidFill>
                <a:latin typeface="Apple SD Gothic Neo"/>
                <a:ea typeface="Apple SD Gothic Neo"/>
                <a:cs typeface="Apple SD Gothic Neo"/>
              </a:rPr>
              <a:t>졸업논문 진행 관리 보드</a:t>
            </a:r>
          </a:p>
        </p:txBody>
      </p:sp>
      <p:sp>
        <p:nvSpPr>
          <p:cNvPr id="2" name="학생 당사자의 경험과 접근성을 활용하여, 다전공 졸업논문 절차의 정보 탐색 문제">
            <a:extLst xmlns:a="http://schemas.openxmlformats.org/drawingml/2006/main">
              <a:ext uri="{FF2B5EF4-FFF2-40B4-BE49-F238E27FC236}">
                <a16:creationId xmlns:a16="http://schemas.microsoft.com/office/drawing/2014/main" id="{F73D4F5B-DFAE-45AD-B648-928B9B853496}"/>
              </a:ext>
            </a:extLst>
          </p:cNvPr>
          <p:cNvSpPr>
            <a:spLocks xmlns:a="http://schemas.openxmlformats.org/drawingml/2006/main" noGrp="1"/>
          </p:cNvSpPr>
          <p:nvPr/>
        </p:nvSpPr>
        <p:spPr>
          <a:xfrm xmlns:a="http://schemas.openxmlformats.org/drawingml/2006/main">
            <a:off x="552450" y="117157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6F78"/>
                </a:solidFill>
                <a:latin typeface="Apple SD Gothic Neo"/>
                <a:ea typeface="Apple SD Gothic Neo"/>
                <a:cs typeface="Apple SD Gothic Neo"/>
              </a:defRPr>
            </a:pPr>
            <a:r>
              <a:rPr sz="2175" b="1">
                <a:solidFill>
                  <a:srgbClr val="006F78"/>
                </a:solidFill>
                <a:latin typeface="Apple SD Gothic Neo"/>
                <a:ea typeface="Apple SD Gothic Neo"/>
                <a:cs typeface="Apple SD Gothic Neo"/>
              </a:rPr>
              <a:t>학생 당사자의 경험과 접근성을 활용하여, 다전공 졸업논문 절차의 정보 탐색 문제를 선정</a:t>
            </a:r>
          </a:p>
        </p:txBody>
      </p:sp>
      <p:sp>
        <p:nvSpPr>
          <p:cNvPr id="3" name="01">
            <a:extLst xmlns:a="http://schemas.openxmlformats.org/drawingml/2006/main">
              <a:ext uri="{FF2B5EF4-FFF2-40B4-BE49-F238E27FC236}">
                <a16:creationId xmlns:a16="http://schemas.microsoft.com/office/drawing/2014/main" id="{033D21FD-FF2D-431D-8A4A-2988DA7A74B4}"/>
              </a:ext>
            </a:extLst>
          </p:cNvPr>
          <p:cNvSpPr>
            <a:spLocks xmlns:a="http://schemas.openxmlformats.org/drawingml/2006/main" noGrp="1"/>
          </p:cNvSpPr>
          <p:nvPr/>
        </p:nvSpPr>
        <p:spPr>
          <a:xfrm xmlns:a="http://schemas.openxmlformats.org/drawingml/2006/main">
            <a:off x="11277600" y="64103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01</a:t>
            </a:r>
          </a:p>
        </p:txBody>
      </p:sp>
      <p:sp>
        <p:nvSpPr>
          <p:cNvPr id="4" name="문제 선정 기준: 대학생 신분의 강점 활용">
            <a:extLst xmlns:a="http://schemas.openxmlformats.org/drawingml/2006/main">
              <a:ext uri="{FF2B5EF4-FFF2-40B4-BE49-F238E27FC236}">
                <a16:creationId xmlns:a16="http://schemas.microsoft.com/office/drawing/2014/main" id="{3173DF49-1BE1-48F0-A778-FCB2DA7F6A56}"/>
              </a:ext>
            </a:extLst>
          </p:cNvPr>
          <p:cNvSpPr>
            <a:spLocks xmlns:a="http://schemas.openxmlformats.org/drawingml/2006/main" noGrp="1"/>
          </p:cNvSpPr>
          <p:nvPr/>
        </p:nvSpPr>
        <p:spPr>
          <a:xfrm xmlns:a="http://schemas.openxmlformats.org/drawingml/2006/main">
            <a:off x="533400" y="2124075"/>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C40"/>
                </a:solidFill>
                <a:latin typeface="Apple SD Gothic Neo"/>
                <a:ea typeface="Apple SD Gothic Neo"/>
                <a:cs typeface="Apple SD Gothic Neo"/>
              </a:defRPr>
            </a:pPr>
            <a:r>
              <a:rPr sz="2025" b="1">
                <a:solidFill>
                  <a:srgbClr val="142C40"/>
                </a:solidFill>
                <a:latin typeface="Apple SD Gothic Neo"/>
                <a:ea typeface="Apple SD Gothic Neo"/>
                <a:cs typeface="Apple SD Gothic Neo"/>
              </a:rPr>
              <a:t>문제 선정 기준: 대학생 신분의 강점 활용</a:t>
            </a:r>
          </a:p>
        </p:txBody>
      </p:sp>
      <p:sp>
        <p:nvSpPr>
          <p:cNvPr id="5" name="현장에 대한 접근성">
            <a:extLst xmlns:a="http://schemas.openxmlformats.org/drawingml/2006/main">
              <a:ext uri="{FF2B5EF4-FFF2-40B4-BE49-F238E27FC236}">
                <a16:creationId xmlns:a16="http://schemas.microsoft.com/office/drawing/2014/main" id="{698B1B64-4EC0-4061-8B32-3393A0D332BF}"/>
              </a:ext>
            </a:extLst>
          </p:cNvPr>
          <p:cNvSpPr>
            <a:spLocks xmlns:a="http://schemas.openxmlformats.org/drawingml/2006/main" noGrp="1"/>
          </p:cNvSpPr>
          <p:nvPr/>
        </p:nvSpPr>
        <p:spPr>
          <a:xfrm xmlns:a="http://schemas.openxmlformats.org/drawingml/2006/main">
            <a:off x="533400" y="26955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8"/>
                </a:solidFill>
                <a:latin typeface="Apple SD Gothic Neo"/>
                <a:ea typeface="Apple SD Gothic Neo"/>
                <a:cs typeface="Apple SD Gothic Neo"/>
              </a:defRPr>
            </a:pPr>
            <a:r>
              <a:rPr sz="1800" b="1">
                <a:solidFill>
                  <a:srgbClr val="006F78"/>
                </a:solidFill>
                <a:latin typeface="Apple SD Gothic Neo"/>
                <a:ea typeface="Apple SD Gothic Neo"/>
                <a:cs typeface="Apple SD Gothic Neo"/>
              </a:rPr>
              <a:t>현장에 대한 접근성</a:t>
            </a:r>
          </a:p>
        </p:txBody>
      </p:sp>
      <p:sp>
        <p:nvSpPr>
          <p:cNvPr id="6" name="학생이 직접 접하는 공지, 신청, 제출 과정을 관찰하고&#10;안내 내용과 실제 행동 ">
            <a:extLst xmlns:a="http://schemas.openxmlformats.org/drawingml/2006/main">
              <a:ext uri="{FF2B5EF4-FFF2-40B4-BE49-F238E27FC236}">
                <a16:creationId xmlns:a16="http://schemas.microsoft.com/office/drawing/2014/main" id="{C0C73438-6F37-47D1-AA62-FC2F8C92E015}"/>
              </a:ext>
            </a:extLst>
          </p:cNvPr>
          <p:cNvSpPr>
            <a:spLocks xmlns:a="http://schemas.openxmlformats.org/drawingml/2006/main" noGrp="1"/>
          </p:cNvSpPr>
          <p:nvPr/>
        </p:nvSpPr>
        <p:spPr>
          <a:xfrm xmlns:a="http://schemas.openxmlformats.org/drawingml/2006/main">
            <a:off x="533400" y="3086100"/>
            <a:ext cx="52673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학생이 직접 접하는 공지, 신청, 제출 과정을 관찰하고</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안내 내용과 실제 행동 사이의 불편을 구체적으로</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파악할 수 있는 문제를 선택하고자 했습니다.</a:t>
            </a:r>
          </a:p>
        </p:txBody>
      </p:sp>
      <p:sp>
        <p:nvSpPr>
          <p:cNvPr id="7" name="사용자 검증의 용이성">
            <a:extLst xmlns:a="http://schemas.openxmlformats.org/drawingml/2006/main">
              <a:ext uri="{FF2B5EF4-FFF2-40B4-BE49-F238E27FC236}">
                <a16:creationId xmlns:a16="http://schemas.microsoft.com/office/drawing/2014/main" id="{39EB893D-0F11-4653-BDA7-D593AB47E9DB}"/>
              </a:ext>
            </a:extLst>
          </p:cNvPr>
          <p:cNvSpPr>
            <a:spLocks xmlns:a="http://schemas.openxmlformats.org/drawingml/2006/main" noGrp="1"/>
          </p:cNvSpPr>
          <p:nvPr/>
        </p:nvSpPr>
        <p:spPr>
          <a:xfrm xmlns:a="http://schemas.openxmlformats.org/drawingml/2006/main">
            <a:off x="533400" y="43529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8"/>
                </a:solidFill>
                <a:latin typeface="Apple SD Gothic Neo"/>
                <a:ea typeface="Apple SD Gothic Neo"/>
                <a:cs typeface="Apple SD Gothic Neo"/>
              </a:defRPr>
            </a:pPr>
            <a:r>
              <a:rPr sz="1800" b="1">
                <a:solidFill>
                  <a:srgbClr val="006F78"/>
                </a:solidFill>
                <a:latin typeface="Apple SD Gothic Neo"/>
                <a:ea typeface="Apple SD Gothic Neo"/>
                <a:cs typeface="Apple SD Gothic Neo"/>
              </a:rPr>
              <a:t>사용자 검증의 용이성</a:t>
            </a:r>
          </a:p>
        </p:txBody>
      </p:sp>
      <p:sp>
        <p:nvSpPr>
          <p:cNvPr id="8" name="주전공·복수전공 조합이 다른 동료 학생에게&#10;절차를 이해하기 어려운 지점과 필요한">
            <a:extLst xmlns:a="http://schemas.openxmlformats.org/drawingml/2006/main">
              <a:ext uri="{FF2B5EF4-FFF2-40B4-BE49-F238E27FC236}">
                <a16:creationId xmlns:a16="http://schemas.microsoft.com/office/drawing/2014/main" id="{E0147AA9-7DCB-4339-A93D-6EAD4127D8D7}"/>
              </a:ext>
            </a:extLst>
          </p:cNvPr>
          <p:cNvSpPr>
            <a:spLocks xmlns:a="http://schemas.openxmlformats.org/drawingml/2006/main" noGrp="1"/>
          </p:cNvSpPr>
          <p:nvPr/>
        </p:nvSpPr>
        <p:spPr>
          <a:xfrm xmlns:a="http://schemas.openxmlformats.org/drawingml/2006/main">
            <a:off x="533400" y="4743450"/>
            <a:ext cx="52673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주전공·복수전공 조합이 다른 동료 학생에게</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절차를 이해하기 어려운 지점과 필요한 정보를</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확인할 수 있다는 점을 기획의 강점으로 보았습니다.</a:t>
            </a:r>
          </a:p>
        </p:txBody>
      </p:sp>
      <p:sp>
        <p:nvSpPr>
          <p:cNvPr id="9" name="선정 대상: 학과별 졸업논문 진행 절차">
            <a:extLst xmlns:a="http://schemas.openxmlformats.org/drawingml/2006/main">
              <a:ext uri="{FF2B5EF4-FFF2-40B4-BE49-F238E27FC236}">
                <a16:creationId xmlns:a16="http://schemas.microsoft.com/office/drawing/2014/main" id="{2AE0C828-2A42-4958-B204-D3C5F4545A65}"/>
              </a:ext>
            </a:extLst>
          </p:cNvPr>
          <p:cNvSpPr>
            <a:spLocks xmlns:a="http://schemas.openxmlformats.org/drawingml/2006/main" noGrp="1"/>
          </p:cNvSpPr>
          <p:nvPr/>
        </p:nvSpPr>
        <p:spPr>
          <a:xfrm xmlns:a="http://schemas.openxmlformats.org/drawingml/2006/main">
            <a:off x="6429375" y="2124075"/>
            <a:ext cx="5229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C40"/>
                </a:solidFill>
                <a:latin typeface="Apple SD Gothic Neo"/>
                <a:ea typeface="Apple SD Gothic Neo"/>
                <a:cs typeface="Apple SD Gothic Neo"/>
              </a:defRPr>
            </a:pPr>
            <a:r>
              <a:rPr sz="2025" b="1">
                <a:solidFill>
                  <a:srgbClr val="142C40"/>
                </a:solidFill>
                <a:latin typeface="Apple SD Gothic Neo"/>
                <a:ea typeface="Apple SD Gothic Neo"/>
                <a:cs typeface="Apple SD Gothic Neo"/>
              </a:rPr>
              <a:t>선정 대상: 학과별 졸업논문 진행 절차</a:t>
            </a:r>
          </a:p>
        </p:txBody>
      </p:sp>
      <p:sp>
        <p:nvSpPr>
          <p:cNvPr id="10" name="학부생의 공통 과제인 졸업요건 확인">
            <a:extLst xmlns:a="http://schemas.openxmlformats.org/drawingml/2006/main">
              <a:ext uri="{FF2B5EF4-FFF2-40B4-BE49-F238E27FC236}">
                <a16:creationId xmlns:a16="http://schemas.microsoft.com/office/drawing/2014/main" id="{A6B716E1-C975-4BD5-848F-27B15394E172}"/>
              </a:ext>
            </a:extLst>
          </p:cNvPr>
          <p:cNvSpPr>
            <a:spLocks xmlns:a="http://schemas.openxmlformats.org/drawingml/2006/main" noGrp="1"/>
          </p:cNvSpPr>
          <p:nvPr/>
        </p:nvSpPr>
        <p:spPr>
          <a:xfrm xmlns:a="http://schemas.openxmlformats.org/drawingml/2006/main">
            <a:off x="6429375" y="2695575"/>
            <a:ext cx="522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8"/>
                </a:solidFill>
                <a:latin typeface="Apple SD Gothic Neo"/>
                <a:ea typeface="Apple SD Gothic Neo"/>
                <a:cs typeface="Apple SD Gothic Neo"/>
              </a:defRPr>
            </a:pPr>
            <a:r>
              <a:rPr sz="1800" b="1">
                <a:solidFill>
                  <a:srgbClr val="006F78"/>
                </a:solidFill>
                <a:latin typeface="Apple SD Gothic Neo"/>
                <a:ea typeface="Apple SD Gothic Neo"/>
                <a:cs typeface="Apple SD Gothic Neo"/>
              </a:rPr>
              <a:t>학부생의 공통 과제인 졸업요건 확인</a:t>
            </a:r>
          </a:p>
        </p:txBody>
      </p:sp>
      <p:sp>
        <p:nvSpPr>
          <p:cNvPr id="11" name="졸업을 위해서는 각자의 전공 요건을 충족해야 합니다.&#10;그중 논문 대상 학생은 지">
            <a:extLst xmlns:a="http://schemas.openxmlformats.org/drawingml/2006/main">
              <a:ext uri="{FF2B5EF4-FFF2-40B4-BE49-F238E27FC236}">
                <a16:creationId xmlns:a16="http://schemas.microsoft.com/office/drawing/2014/main" id="{C4B122DC-2879-41AB-AD38-F347DAB3FC69}"/>
              </a:ext>
            </a:extLst>
          </p:cNvPr>
          <p:cNvSpPr>
            <a:spLocks xmlns:a="http://schemas.openxmlformats.org/drawingml/2006/main" noGrp="1"/>
          </p:cNvSpPr>
          <p:nvPr/>
        </p:nvSpPr>
        <p:spPr>
          <a:xfrm xmlns:a="http://schemas.openxmlformats.org/drawingml/2006/main">
            <a:off x="6429375" y="3086100"/>
            <a:ext cx="5229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졸업을 위해서는 각자의 전공 요건을 충족해야 합니다.</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그중 논문 대상 학생은 지도교수 결정, 자료 제출,</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심사 또는 발표 등 학과가 정한 절차를 이행합니다.</a:t>
            </a:r>
          </a:p>
        </p:txBody>
      </p:sp>
      <p:sp>
        <p:nvSpPr>
          <p:cNvPr id="12" name="초기 집중 대상은 서울대학교 다전공생">
            <a:extLst xmlns:a="http://schemas.openxmlformats.org/drawingml/2006/main">
              <a:ext uri="{FF2B5EF4-FFF2-40B4-BE49-F238E27FC236}">
                <a16:creationId xmlns:a16="http://schemas.microsoft.com/office/drawing/2014/main" id="{98D52202-5277-464B-A49F-88B44E1F756D}"/>
              </a:ext>
            </a:extLst>
          </p:cNvPr>
          <p:cNvSpPr>
            <a:spLocks xmlns:a="http://schemas.openxmlformats.org/drawingml/2006/main" noGrp="1"/>
          </p:cNvSpPr>
          <p:nvPr/>
        </p:nvSpPr>
        <p:spPr>
          <a:xfrm xmlns:a="http://schemas.openxmlformats.org/drawingml/2006/main">
            <a:off x="6429375" y="4352925"/>
            <a:ext cx="522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8"/>
                </a:solidFill>
                <a:latin typeface="Apple SD Gothic Neo"/>
                <a:ea typeface="Apple SD Gothic Neo"/>
                <a:cs typeface="Apple SD Gothic Neo"/>
              </a:defRPr>
            </a:pPr>
            <a:r>
              <a:rPr sz="1800" b="1">
                <a:solidFill>
                  <a:srgbClr val="006F78"/>
                </a:solidFill>
                <a:latin typeface="Apple SD Gothic Neo"/>
                <a:ea typeface="Apple SD Gothic Neo"/>
                <a:cs typeface="Apple SD Gothic Neo"/>
              </a:rPr>
              <a:t>초기 집중 대상은 서울대학교 다전공생</a:t>
            </a:r>
          </a:p>
        </p:txBody>
      </p:sp>
      <p:sp>
        <p:nvSpPr>
          <p:cNvPr id="13" name="다전공 이수가 보편적이라는 기획자의 현장 경험을&#10;출발점으로 삼았습니다. 서로 다">
            <a:extLst xmlns:a="http://schemas.openxmlformats.org/drawingml/2006/main">
              <a:ext uri="{FF2B5EF4-FFF2-40B4-BE49-F238E27FC236}">
                <a16:creationId xmlns:a16="http://schemas.microsoft.com/office/drawing/2014/main" id="{F98A727C-549F-4F94-944C-3543EC5A9498}"/>
              </a:ext>
            </a:extLst>
          </p:cNvPr>
          <p:cNvSpPr>
            <a:spLocks xmlns:a="http://schemas.openxmlformats.org/drawingml/2006/main" noGrp="1"/>
          </p:cNvSpPr>
          <p:nvPr/>
        </p:nvSpPr>
        <p:spPr>
          <a:xfrm xmlns:a="http://schemas.openxmlformats.org/drawingml/2006/main">
            <a:off x="6429375" y="4743450"/>
            <a:ext cx="5229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다전공 이수가 보편적이라는 기획자의 현장 경험을</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출발점으로 삼았습니다. 서로 다른 학과의 절차를</a:t>
            </a:r>
          </a:p>
          <a:p xmlns:a="http://schemas.openxmlformats.org/drawingml/2006/main">
            <a:pPr>
              <a:defRPr sz="1725" b="0">
                <a:solidFill>
                  <a:srgbClr val="142C40"/>
                </a:solidFill>
                <a:latin typeface="Apple SD Gothic Neo"/>
                <a:ea typeface="Apple SD Gothic Neo"/>
                <a:cs typeface="Apple SD Gothic Neo"/>
              </a:defRPr>
            </a:pPr>
            <a:r>
              <a:rPr sz="1725" b="0">
                <a:solidFill>
                  <a:srgbClr val="142C40"/>
                </a:solidFill>
                <a:latin typeface="Apple SD Gothic Neo"/>
                <a:ea typeface="Apple SD Gothic Neo"/>
                <a:cs typeface="Apple SD Gothic Neo"/>
              </a:rPr>
              <a:t>동시에 관리하는 학생에게 정보 탐색 부담이 집중됩니다.</a:t>
            </a:r>
          </a:p>
        </p:txBody>
      </p:sp>
      <p:sp>
        <p:nvSpPr>
          <p:cNvPr id="14" name="범위: 졸업논문의 학술적 내용보다, 대상 여부·신청 순서·제출처·마감을 확인하는">
            <a:extLst xmlns:a="http://schemas.openxmlformats.org/drawingml/2006/main">
              <a:ext uri="{FF2B5EF4-FFF2-40B4-BE49-F238E27FC236}">
                <a16:creationId xmlns:a16="http://schemas.microsoft.com/office/drawing/2014/main" id="{F9341205-DA85-477B-83E9-955025757261}"/>
              </a:ext>
            </a:extLst>
          </p:cNvPr>
          <p:cNvSpPr>
            <a:spLocks xmlns:a="http://schemas.openxmlformats.org/drawingml/2006/main" noGrp="1"/>
          </p:cNvSpPr>
          <p:nvPr/>
        </p:nvSpPr>
        <p:spPr>
          <a:xfrm xmlns:a="http://schemas.openxmlformats.org/drawingml/2006/main">
            <a:off x="533400" y="599122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8"/>
                </a:solidFill>
                <a:latin typeface="Apple SD Gothic Neo"/>
                <a:ea typeface="Apple SD Gothic Neo"/>
                <a:cs typeface="Apple SD Gothic Neo"/>
              </a:defRPr>
            </a:pPr>
            <a:r>
              <a:rPr sz="1725" b="1">
                <a:solidFill>
                  <a:srgbClr val="006F78"/>
                </a:solidFill>
                <a:latin typeface="Apple SD Gothic Neo"/>
                <a:ea typeface="Apple SD Gothic Neo"/>
                <a:cs typeface="Apple SD Gothic Neo"/>
              </a:rPr>
              <a:t>범위: 졸업논문의 학술적 내용보다, 대상 여부·신청 순서·제출처·마감을 확인하는 행정 절차에 집중</a:t>
            </a:r>
          </a:p>
        </p:txBody>
      </p:sp>
      <p:sp>
        <p:nvSpPr>
          <p:cNvPr id="15" name="근거 구분: 문제 선정과 다전공 확산 인식은 기획자의 경험에 기반함. 논문 필수">
            <a:extLst xmlns:a="http://schemas.openxmlformats.org/drawingml/2006/main">
              <a:ext uri="{FF2B5EF4-FFF2-40B4-BE49-F238E27FC236}">
                <a16:creationId xmlns:a16="http://schemas.microsoft.com/office/drawing/2014/main" id="{EF39071B-17EB-40B0-9BD4-58CF839CEB91}"/>
              </a:ext>
            </a:extLst>
          </p:cNvPr>
          <p:cNvSpPr>
            <a:spLocks xmlns:a="http://schemas.openxmlformats.org/drawingml/2006/main" noGrp="1"/>
          </p:cNvSpPr>
          <p:nvPr/>
        </p:nvSpPr>
        <p:spPr>
          <a:xfrm xmlns:a="http://schemas.openxmlformats.org/drawingml/2006/main">
            <a:off x="533400" y="64484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근거 구분: 문제 선정과 다전공 확산 인식은 기획자의 경험에 기반함. 논문 필수 여부는 전공별로 다르며, 다전공생 비율은 미산정.</a:t>
            </a:r>
          </a:p>
        </p:txBody>
      </p:sp>
    </p:spTree>
    <p:extLst>
      <p:ext uri="{BB962C8B-B14F-4D97-AF65-F5344CB8AC3E}">
        <p14:creationId xmlns:p14="http://schemas.microsoft.com/office/powerpoint/2010/main" val="15023945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학과별 절차와 정보 제공 방식의 차이">
            <a:extLst xmlns:a="http://schemas.openxmlformats.org/drawingml/2006/main">
              <a:ext uri="{FF2B5EF4-FFF2-40B4-BE49-F238E27FC236}">
                <a16:creationId xmlns:a16="http://schemas.microsoft.com/office/drawing/2014/main" id="{8DBDCED8-A3A3-4AA6-862A-C821299159A9}"/>
              </a:ext>
            </a:extLst>
          </p:cNvPr>
          <p:cNvSpPr>
            <a:spLocks xmlns:a="http://schemas.openxmlformats.org/drawingml/2006/main" noGrp="1"/>
          </p:cNvSpPr>
          <p:nvPr/>
        </p:nvSpPr>
        <p:spPr>
          <a:xfrm xmlns:a="http://schemas.openxmlformats.org/drawingml/2006/main">
            <a:off x="533400" y="361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75" b="1">
                <a:solidFill>
                  <a:srgbClr val="142C40"/>
                </a:solidFill>
                <a:latin typeface="Apple SD Gothic Neo"/>
                <a:ea typeface="Apple SD Gothic Neo"/>
                <a:cs typeface="Apple SD Gothic Neo"/>
              </a:defRPr>
            </a:pPr>
            <a:r>
              <a:rPr sz="3075" b="1">
                <a:solidFill>
                  <a:srgbClr val="142C40"/>
                </a:solidFill>
                <a:latin typeface="Apple SD Gothic Neo"/>
                <a:ea typeface="Apple SD Gothic Neo"/>
                <a:cs typeface="Apple SD Gothic Neo"/>
              </a:rPr>
              <a:t>학과별 절차와 정보 제공 방식의 차이</a:t>
            </a:r>
          </a:p>
        </p:txBody>
      </p:sp>
      <p:sp>
        <p:nvSpPr>
          <p:cNvPr id="2" name="지도교수 결정, 수업 이수, 발표·제출 요건이 달라 전공별 공지와 서식을 각각 ">
            <a:extLst xmlns:a="http://schemas.openxmlformats.org/drawingml/2006/main">
              <a:ext uri="{FF2B5EF4-FFF2-40B4-BE49-F238E27FC236}">
                <a16:creationId xmlns:a16="http://schemas.microsoft.com/office/drawing/2014/main" id="{AFE13E2F-D5E0-45BE-8DBC-74FCDA28B957}"/>
              </a:ext>
            </a:extLst>
          </p:cNvPr>
          <p:cNvSpPr>
            <a:spLocks xmlns:a="http://schemas.openxmlformats.org/drawingml/2006/main" noGrp="1"/>
          </p:cNvSpPr>
          <p:nvPr/>
        </p:nvSpPr>
        <p:spPr>
          <a:xfrm xmlns:a="http://schemas.openxmlformats.org/drawingml/2006/main">
            <a:off x="552450" y="117157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6F78"/>
                </a:solidFill>
                <a:latin typeface="Apple SD Gothic Neo"/>
                <a:ea typeface="Apple SD Gothic Neo"/>
                <a:cs typeface="Apple SD Gothic Neo"/>
              </a:defRPr>
            </a:pPr>
            <a:r>
              <a:rPr sz="2175" b="1">
                <a:solidFill>
                  <a:srgbClr val="006F78"/>
                </a:solidFill>
                <a:latin typeface="Apple SD Gothic Neo"/>
                <a:ea typeface="Apple SD Gothic Neo"/>
                <a:cs typeface="Apple SD Gothic Neo"/>
              </a:rPr>
              <a:t>지도교수 결정, 수업 이수, 발표·제출 요건이 달라 전공별 공지와 서식을 각각 확인해야 함</a:t>
            </a:r>
          </a:p>
        </p:txBody>
      </p:sp>
      <p:sp>
        <p:nvSpPr>
          <p:cNvPr id="3" name="02">
            <a:extLst xmlns:a="http://schemas.openxmlformats.org/drawingml/2006/main">
              <a:ext uri="{FF2B5EF4-FFF2-40B4-BE49-F238E27FC236}">
                <a16:creationId xmlns:a16="http://schemas.microsoft.com/office/drawing/2014/main" id="{7BF2B076-826E-442B-8BF2-486E70D3EBF2}"/>
              </a:ext>
            </a:extLst>
          </p:cNvPr>
          <p:cNvSpPr>
            <a:spLocks xmlns:a="http://schemas.openxmlformats.org/drawingml/2006/main" noGrp="1"/>
          </p:cNvSpPr>
          <p:nvPr/>
        </p:nvSpPr>
        <p:spPr>
          <a:xfrm xmlns:a="http://schemas.openxmlformats.org/drawingml/2006/main">
            <a:off x="11277600" y="64103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02</a:t>
            </a:r>
          </a:p>
        </p:txBody>
      </p:sp>
      <p:graphicFrame>
        <p:nvGraphicFramePr>
          <p:cNvPr id="14" name=""/>
          <p:cNvGraphicFramePr/>
          <p:nvPr/>
        </p:nvGraphicFramePr>
        <p:xfrm>
          <a:off xmlns:a="http://schemas.openxmlformats.org/drawingml/2006/main" x="533400" y="2076450"/>
          <a:ext xmlns:a="http://schemas.openxmlformats.org/drawingml/2006/main" cx="11125200" cy="3562350"/>
        </p:xfrm>
        <a:graphic xmlns:a="http://schemas.openxmlformats.org/drawingml/2006/main">
          <a:graphicData uri="http://schemas.openxmlformats.org/drawingml/2006/table">
            <a:tbl>
              <a:tblPr/>
              <a:tblGrid>
                <a:gridCol w="3048000"/>
                <a:gridCol w="4419600"/>
                <a:gridCol w="3657600"/>
              </a:tblGrid>
              <a:tr h="419100">
                <a:tc>
                  <a:txBody>
                    <a:bodyPr>
                      <a:noAutofit/>
                    </a:bodyPr>
                    <a:lstStyle/>
                    <a:p>
                      <a:r>
                        <a:rPr sz="1650" b="1">
                          <a:solidFill>
                            <a:srgbClr val="FFFFFF"/>
                          </a:solidFill>
                          <a:latin typeface="Apple SD Gothic Neo"/>
                          <a:ea typeface="Apple SD Gothic Neo"/>
                          <a:cs typeface="Apple SD Gothic Neo"/>
                        </a:rPr>
                        <a:t>진행 방식과 공식 사례</a:t>
                      </a:r>
                    </a:p>
                  </a:txBody>
                  <a:tcPr marL="152400" marR="152400" marT="104775" marB="95250" anchor="ctr">
                    <a:solidFill>
                      <a:srgbClr val="142C40"/>
                    </a:solidFill>
                  </a:tcPr>
                </a:tc>
                <a:tc>
                  <a:txBody>
                    <a:bodyPr>
                      <a:noAutofit/>
                    </a:bodyPr>
                    <a:lstStyle/>
                    <a:p>
                      <a:r>
                        <a:rPr sz="1650" b="1">
                          <a:solidFill>
                            <a:srgbClr val="FFFFFF"/>
                          </a:solidFill>
                          <a:latin typeface="Apple SD Gothic Neo"/>
                          <a:ea typeface="Apple SD Gothic Neo"/>
                          <a:cs typeface="Apple SD Gothic Neo"/>
                        </a:rPr>
                        <a:t>공지에서 확인되는 절차</a:t>
                      </a:r>
                    </a:p>
                  </a:txBody>
                  <a:tcPr marL="152400" marR="152400" marT="104775" marB="95250" anchor="ctr">
                    <a:solidFill>
                      <a:srgbClr val="142C40"/>
                    </a:solidFill>
                  </a:tcPr>
                </a:tc>
                <a:tc>
                  <a:txBody>
                    <a:bodyPr>
                      <a:noAutofit/>
                    </a:bodyPr>
                    <a:lstStyle/>
                    <a:p>
                      <a:r>
                        <a:rPr sz="1650" b="1">
                          <a:solidFill>
                            <a:srgbClr val="FFFFFF"/>
                          </a:solidFill>
                          <a:latin typeface="Apple SD Gothic Neo"/>
                          <a:ea typeface="Apple SD Gothic Neo"/>
                          <a:cs typeface="Apple SD Gothic Neo"/>
                        </a:rPr>
                        <a:t>학생이 별도로 관리해야 하는 정보</a:t>
                      </a:r>
                    </a:p>
                  </a:txBody>
                  <a:tcPr marL="152400" marR="152400" marT="104775" marB="95250" anchor="ctr">
                    <a:solidFill>
                      <a:srgbClr val="142C40"/>
                    </a:solidFill>
                  </a:tcPr>
                </a:tc>
              </a:tr>
              <a:tr h="1047750">
                <a:tc>
                  <a:txBody>
                    <a:bodyPr>
                      <a:noAutofit/>
                    </a:bodyPr>
                    <a:lstStyle/>
                    <a:p>
                      <a:r>
                        <a:rPr sz="1650" b="1">
                          <a:solidFill>
                            <a:srgbClr val="142C40"/>
                          </a:solidFill>
                          <a:latin typeface="Apple SD Gothic Neo"/>
                          <a:ea typeface="Apple SD Gothic Neo"/>
                          <a:cs typeface="Apple SD Gothic Neo"/>
                        </a:rPr>
                        <a:t>지도교수·계획서 확인 중심</a:t>
                      </a:r>
                    </a:p>
                    <a:p>
                      <a:r>
                        <a:rPr sz="1650" b="1">
                          <a:solidFill>
                            <a:srgbClr val="142C40"/>
                          </a:solidFill>
                          <a:latin typeface="Apple SD Gothic Neo"/>
                          <a:ea typeface="Apple SD Gothic Neo"/>
                          <a:cs typeface="Apple SD Gothic Neo"/>
                        </a:rPr>
                        <a:t>화학생물공학부 [1]</a:t>
                      </a:r>
                    </a:p>
                    <a:p>
                      <a:r>
                        <a:rPr sz="1650" b="1">
                          <a:solidFill>
                            <a:srgbClr val="142C40"/>
                          </a:solidFill>
                          <a:latin typeface="Apple SD Gothic Neo"/>
                          <a:ea typeface="Apple SD Gothic Neo"/>
                          <a:cs typeface="Apple SD Gothic Neo"/>
                        </a:rPr>
                        <a:t>2025년 2월 졸업 안내</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지도교수 신청과 작성계획서 제출을 구분.</a:t>
                      </a:r>
                    </a:p>
                    <a:p>
                      <a:r>
                        <a:rPr sz="1650" b="0">
                          <a:solidFill>
                            <a:srgbClr val="142C40"/>
                          </a:solidFill>
                          <a:latin typeface="Apple SD Gothic Neo"/>
                          <a:ea typeface="Apple SD Gothic Neo"/>
                          <a:cs typeface="Apple SD Gothic Neo"/>
                        </a:rPr>
                        <a:t>계획서는 교수와 주제를 논의·확인한 후 제출.</a:t>
                      </a:r>
                    </a:p>
                    <a:p>
                      <a:r>
                        <a:rPr sz="1650" b="0">
                          <a:solidFill>
                            <a:srgbClr val="142C40"/>
                          </a:solidFill>
                          <a:latin typeface="Apple SD Gothic Neo"/>
                          <a:ea typeface="Apple SD Gothic Neo"/>
                          <a:cs typeface="Apple SD Gothic Neo"/>
                        </a:rPr>
                        <a:t>기한 이후 신청은 개별 연락·승인이 필요.</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교수 승인 여부와 단계별 제출 기한,</a:t>
                      </a:r>
                    </a:p>
                    <a:p>
                      <a:r>
                        <a:rPr sz="1650" b="0">
                          <a:solidFill>
                            <a:srgbClr val="142C40"/>
                          </a:solidFill>
                          <a:latin typeface="Apple SD Gothic Neo"/>
                          <a:ea typeface="Apple SD Gothic Neo"/>
                          <a:cs typeface="Apple SD Gothic Neo"/>
                        </a:rPr>
                        <a:t>신청서·계획서·논문 서식,</a:t>
                      </a:r>
                    </a:p>
                    <a:p>
                      <a:r>
                        <a:rPr sz="1650" b="0">
                          <a:solidFill>
                            <a:srgbClr val="142C40"/>
                          </a:solidFill>
                          <a:latin typeface="Apple SD Gothic Neo"/>
                          <a:ea typeface="Apple SD Gothic Neo"/>
                          <a:cs typeface="Apple SD Gothic Neo"/>
                        </a:rPr>
                        <a:t>행정실 원본 제출 여부</a:t>
                      </a:r>
                    </a:p>
                  </a:txBody>
                  <a:tcPr marL="152400" marR="152400" marT="104775" marB="95250" anchor="ctr">
                    <a:solidFill>
                      <a:srgbClr val="FFFFFF"/>
                    </a:solidFill>
                  </a:tcPr>
                </a:tc>
              </a:tr>
              <a:tr h="1047750">
                <a:tc>
                  <a:txBody>
                    <a:bodyPr>
                      <a:noAutofit/>
                    </a:bodyPr>
                    <a:lstStyle/>
                    <a:p>
                      <a:r>
                        <a:rPr sz="1650" b="1">
                          <a:solidFill>
                            <a:srgbClr val="142C40"/>
                          </a:solidFill>
                          <a:latin typeface="Apple SD Gothic Neo"/>
                          <a:ea typeface="Apple SD Gothic Neo"/>
                          <a:cs typeface="Apple SD Gothic Neo"/>
                        </a:rPr>
                        <a:t>교과목 운영 중심</a:t>
                      </a:r>
                    </a:p>
                    <a:p>
                      <a:r>
                        <a:rPr sz="1650" b="1">
                          <a:solidFill>
                            <a:srgbClr val="142C40"/>
                          </a:solidFill>
                          <a:latin typeface="Apple SD Gothic Neo"/>
                          <a:ea typeface="Apple SD Gothic Neo"/>
                          <a:cs typeface="Apple SD Gothic Neo"/>
                        </a:rPr>
                        <a:t>기계공학부 [2a·2b]</a:t>
                      </a:r>
                    </a:p>
                    <a:p>
                      <a:r>
                        <a:rPr sz="1650" b="1">
                          <a:solidFill>
                            <a:srgbClr val="142C40"/>
                          </a:solidFill>
                          <a:latin typeface="Apple SD Gothic Neo"/>
                          <a:ea typeface="Apple SD Gothic Neo"/>
                          <a:cs typeface="Apple SD Gothic Neo"/>
                        </a:rPr>
                        <a:t>2026학년도 공지</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기계시스템설계1 수강과 지도교수 신청을</a:t>
                      </a:r>
                    </a:p>
                    <a:p>
                      <a:r>
                        <a:rPr sz="1650" b="0">
                          <a:solidFill>
                            <a:srgbClr val="142C40"/>
                          </a:solidFill>
                          <a:latin typeface="Apple SD Gothic Neo"/>
                          <a:ea typeface="Apple SD Gothic Neo"/>
                          <a:cs typeface="Apple SD Gothic Neo"/>
                        </a:rPr>
                        <a:t>별도로 진행. 점검 자료와 최종논문을 제출.</a:t>
                      </a:r>
                    </a:p>
                    <a:p>
                      <a:r>
                        <a:rPr sz="1650" b="0">
                          <a:solidFill>
                            <a:srgbClr val="142C40"/>
                          </a:solidFill>
                          <a:latin typeface="Apple SD Gothic Neo"/>
                          <a:ea typeface="Apple SD Gothic Neo"/>
                          <a:cs typeface="Apple SD Gothic Neo"/>
                        </a:rPr>
                        <a:t>기계시스템설계2는 발표회 참석도 요구.</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수강신청과 교수 배정 설문,</a:t>
                      </a:r>
                    </a:p>
                    <a:p>
                      <a:r>
                        <a:rPr sz="1650" b="0">
                          <a:solidFill>
                            <a:srgbClr val="142C40"/>
                          </a:solidFill>
                          <a:latin typeface="Apple SD Gothic Neo"/>
                          <a:ea typeface="Apple SD Gothic Neo"/>
                          <a:cs typeface="Apple SD Gothic Neo"/>
                        </a:rPr>
                        <a:t>점검·최종본 제출 일정, 교수 확인 자료,</a:t>
                      </a:r>
                    </a:p>
                    <a:p>
                      <a:r>
                        <a:rPr sz="1650" b="0">
                          <a:solidFill>
                            <a:srgbClr val="142C40"/>
                          </a:solidFill>
                          <a:latin typeface="Apple SD Gothic Neo"/>
                          <a:ea typeface="Apple SD Gothic Neo"/>
                          <a:cs typeface="Apple SD Gothic Neo"/>
                        </a:rPr>
                        <a:t>발표회 참석 및 성적 반영 조건</a:t>
                      </a:r>
                    </a:p>
                  </a:txBody>
                  <a:tcPr marL="152400" marR="152400" marT="104775" marB="95250" anchor="ctr">
                    <a:solidFill>
                      <a:srgbClr val="FFFFFF"/>
                    </a:solidFill>
                  </a:tcPr>
                </a:tc>
              </a:tr>
              <a:tr h="1047750">
                <a:tc>
                  <a:txBody>
                    <a:bodyPr>
                      <a:noAutofit/>
                    </a:bodyPr>
                    <a:lstStyle/>
                    <a:p>
                      <a:r>
                        <a:rPr sz="1650" b="1">
                          <a:solidFill>
                            <a:srgbClr val="142C40"/>
                          </a:solidFill>
                          <a:latin typeface="Apple SD Gothic Neo"/>
                          <a:ea typeface="Apple SD Gothic Neo"/>
                          <a:cs typeface="Apple SD Gothic Neo"/>
                        </a:rPr>
                        <a:t>논문·발표 요건 병행</a:t>
                      </a:r>
                    </a:p>
                    <a:p>
                      <a:r>
                        <a:rPr sz="1650" b="1">
                          <a:solidFill>
                            <a:srgbClr val="142C40"/>
                          </a:solidFill>
                          <a:latin typeface="Apple SD Gothic Neo"/>
                          <a:ea typeface="Apple SD Gothic Neo"/>
                          <a:cs typeface="Apple SD Gothic Neo"/>
                        </a:rPr>
                        <a:t>지구환경과학부 [3]</a:t>
                      </a:r>
                    </a:p>
                    <a:p>
                      <a:r>
                        <a:rPr sz="1650" b="1">
                          <a:solidFill>
                            <a:srgbClr val="142C40"/>
                          </a:solidFill>
                          <a:latin typeface="Apple SD Gothic Neo"/>
                          <a:ea typeface="Apple SD Gothic Neo"/>
                          <a:cs typeface="Apple SD Gothic Neo"/>
                        </a:rPr>
                        <a:t>2024-2 복수전공 안내</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복수전공 이수 요건에 전공학점뿐 아니라</a:t>
                      </a:r>
                    </a:p>
                    <a:p>
                      <a:r>
                        <a:rPr sz="1650" b="0">
                          <a:solidFill>
                            <a:srgbClr val="142C40"/>
                          </a:solidFill>
                          <a:latin typeface="Apple SD Gothic Neo"/>
                          <a:ea typeface="Apple SD Gothic Neo"/>
                          <a:cs typeface="Apple SD Gothic Neo"/>
                        </a:rPr>
                        <a:t>포스터 발표와 졸업논문 제출을 함께 명시.</a:t>
                      </a:r>
                    </a:p>
                    <a:p>
                      <a:r>
                        <a:rPr sz="1650" b="0">
                          <a:solidFill>
                            <a:srgbClr val="142C40"/>
                          </a:solidFill>
                          <a:latin typeface="Apple SD Gothic Neo"/>
                          <a:ea typeface="Apple SD Gothic Neo"/>
                          <a:cs typeface="Apple SD Gothic Neo"/>
                        </a:rPr>
                        <a:t>주전공 외 학과에서도 별도 요건 확인 필요.</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복수전공에 적용되는 논문 대상 여부,</a:t>
                      </a:r>
                    </a:p>
                    <a:p>
                      <a:r>
                        <a:rPr sz="1650" b="0">
                          <a:solidFill>
                            <a:srgbClr val="142C40"/>
                          </a:solidFill>
                          <a:latin typeface="Apple SD Gothic Neo"/>
                          <a:ea typeface="Apple SD Gothic Neo"/>
                          <a:cs typeface="Apple SD Gothic Neo"/>
                        </a:rPr>
                        <a:t>포스터 발표 의무와 논문 제출 요건,</a:t>
                      </a:r>
                    </a:p>
                    <a:p>
                      <a:r>
                        <a:rPr sz="1650" b="0">
                          <a:solidFill>
                            <a:srgbClr val="142C40"/>
                          </a:solidFill>
                          <a:latin typeface="Apple SD Gothic Neo"/>
                          <a:ea typeface="Apple SD Gothic Neo"/>
                          <a:cs typeface="Apple SD Gothic Neo"/>
                        </a:rPr>
                        <a:t>후속 일정·운영 공지</a:t>
                      </a:r>
                    </a:p>
                  </a:txBody>
                  <a:tcPr marL="152400" marR="152400" marT="104775" marB="95250" anchor="ctr">
                    <a:solidFill>
                      <a:srgbClr val="FFFFFF"/>
                    </a:solidFill>
                  </a:tcPr>
                </a:tc>
              </a:tr>
            </a:tbl>
          </a:graphicData>
        </a:graphic>
      </p:graphicFrame>
      <p:sp>
        <p:nvSpPr>
          <p:cNvPr id="5" name="해석: 하나의 공통 절차를 가정하기 어렵고, 학과별 요구사항을 개인의 일정과 행">
            <a:extLst xmlns:a="http://schemas.openxmlformats.org/drawingml/2006/main">
              <a:ext uri="{FF2B5EF4-FFF2-40B4-BE49-F238E27FC236}">
                <a16:creationId xmlns:a16="http://schemas.microsoft.com/office/drawing/2014/main" id="{7CC46278-C6E4-4FF4-9A37-D05F423B3FC5}"/>
              </a:ext>
            </a:extLst>
          </p:cNvPr>
          <p:cNvSpPr>
            <a:spLocks xmlns:a="http://schemas.openxmlformats.org/drawingml/2006/main" noGrp="1"/>
          </p:cNvSpPr>
          <p:nvPr/>
        </p:nvSpPr>
        <p:spPr>
          <a:xfrm xmlns:a="http://schemas.openxmlformats.org/drawingml/2006/main">
            <a:off x="533400" y="57721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8"/>
                </a:solidFill>
                <a:latin typeface="Apple SD Gothic Neo"/>
                <a:ea typeface="Apple SD Gothic Neo"/>
                <a:cs typeface="Apple SD Gothic Neo"/>
              </a:defRPr>
            </a:pPr>
            <a:r>
              <a:rPr sz="1800" b="1">
                <a:solidFill>
                  <a:srgbClr val="006F78"/>
                </a:solidFill>
                <a:latin typeface="Apple SD Gothic Neo"/>
                <a:ea typeface="Apple SD Gothic Neo"/>
                <a:cs typeface="Apple SD Gothic Neo"/>
              </a:rPr>
              <a:t>해석: 하나의 공통 절차를 가정하기 어렵고, 학과별 요구사항을 개인의 일정과 행동으로 다시 정리해야 합니다.</a:t>
            </a:r>
          </a:p>
        </p:txBody>
      </p:sp>
      <p:sp>
        <p:nvSpPr>
          <p:cNvPr id="6" name="[1] 화학생물공학부 졸업 신청 안내(PDF)">
            <a:extLst xmlns:a="http://schemas.openxmlformats.org/drawingml/2006/main">
              <a:ext uri="{FF2B5EF4-FFF2-40B4-BE49-F238E27FC236}">
                <a16:creationId xmlns:a16="http://schemas.microsoft.com/office/drawing/2014/main" id="{FBDCD6AE-5E02-406F-8E1E-C34E64C464B5}"/>
              </a:ext>
            </a:extLst>
          </p:cNvPr>
          <p:cNvSpPr>
            <a:spLocks xmlns:a="http://schemas.openxmlformats.org/drawingml/2006/main" noGrp="1"/>
          </p:cNvSpPr>
          <p:nvPr/>
        </p:nvSpPr>
        <p:spPr>
          <a:xfrm xmlns:a="http://schemas.openxmlformats.org/drawingml/2006/main">
            <a:off x="533400" y="62198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hlinkClick xmlns:r="http://schemas.openxmlformats.org/officeDocument/2006/relationships" r:id="R71f2635dfa514d37" action="hyperlink"/>
              </a:rPr>
              <a:t>[1] 화학생물공학부 졸업 신청 안내(PDF)</a:t>
            </a:r>
          </a:p>
        </p:txBody>
      </p:sp>
      <p:sp>
        <p:nvSpPr>
          <p:cNvPr id="7" name="[2a] 기계공학부 지도교수 신청">
            <a:extLst xmlns:a="http://schemas.openxmlformats.org/drawingml/2006/main">
              <a:ext uri="{FF2B5EF4-FFF2-40B4-BE49-F238E27FC236}">
                <a16:creationId xmlns:a16="http://schemas.microsoft.com/office/drawing/2014/main" id="{2874854D-11B1-4F0D-BABB-1E104E6AFFF2}"/>
              </a:ext>
            </a:extLst>
          </p:cNvPr>
          <p:cNvSpPr>
            <a:spLocks xmlns:a="http://schemas.openxmlformats.org/drawingml/2006/main" noGrp="1"/>
          </p:cNvSpPr>
          <p:nvPr/>
        </p:nvSpPr>
        <p:spPr>
          <a:xfrm xmlns:a="http://schemas.openxmlformats.org/drawingml/2006/main">
            <a:off x="4572000" y="62198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hlinkClick xmlns:r="http://schemas.openxmlformats.org/officeDocument/2006/relationships" r:id="R51c7a4ea04564886" action="hyperlink"/>
              </a:rPr>
              <a:t>[2a] 기계공학부 지도교수 신청</a:t>
            </a:r>
          </a:p>
        </p:txBody>
      </p:sp>
      <p:sp>
        <p:nvSpPr>
          <p:cNvPr id="8" name="[2b] 논문 교과목 일정">
            <a:extLst xmlns:a="http://schemas.openxmlformats.org/drawingml/2006/main">
              <a:ext uri="{FF2B5EF4-FFF2-40B4-BE49-F238E27FC236}">
                <a16:creationId xmlns:a16="http://schemas.microsoft.com/office/drawing/2014/main" id="{2CA33D64-9A52-478F-BD1F-9C0181918351}"/>
              </a:ext>
            </a:extLst>
          </p:cNvPr>
          <p:cNvSpPr>
            <a:spLocks xmlns:a="http://schemas.openxmlformats.org/drawingml/2006/main" noGrp="1"/>
          </p:cNvSpPr>
          <p:nvPr/>
        </p:nvSpPr>
        <p:spPr>
          <a:xfrm xmlns:a="http://schemas.openxmlformats.org/drawingml/2006/main">
            <a:off x="8096250" y="6219825"/>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hlinkClick xmlns:r="http://schemas.openxmlformats.org/officeDocument/2006/relationships" r:id="Rfd8303aa074f4c80" action="hyperlink"/>
              </a:rPr>
              <a:t>[2b] 논문 교과목 일정</a:t>
            </a:r>
          </a:p>
        </p:txBody>
      </p:sp>
      <p:sp>
        <p:nvSpPr>
          <p:cNvPr id="9" name="[3] 지구환경과학부 다전공 선발계획">
            <a:extLst xmlns:a="http://schemas.openxmlformats.org/drawingml/2006/main">
              <a:ext uri="{FF2B5EF4-FFF2-40B4-BE49-F238E27FC236}">
                <a16:creationId xmlns:a16="http://schemas.microsoft.com/office/drawing/2014/main" id="{157667C5-41F8-4DB5-B943-00A45E375B8F}"/>
              </a:ext>
            </a:extLst>
          </p:cNvPr>
          <p:cNvSpPr>
            <a:spLocks xmlns:a="http://schemas.openxmlformats.org/drawingml/2006/main" noGrp="1"/>
          </p:cNvSpPr>
          <p:nvPr/>
        </p:nvSpPr>
        <p:spPr>
          <a:xfrm xmlns:a="http://schemas.openxmlformats.org/drawingml/2006/main">
            <a:off x="533400" y="64865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hlinkClick xmlns:r="http://schemas.openxmlformats.org/officeDocument/2006/relationships" r:id="R320d7ebb5fd94293" action="hyperlink"/>
              </a:rPr>
              <a:t>[3] 지구환경과학부 다전공 선발계획</a:t>
            </a:r>
          </a:p>
        </p:txBody>
      </p:sp>
      <p:sp>
        <p:nvSpPr>
          <p:cNvPr id="10" name="각 공지의 해당 시점 사례이며, 현행 공통 규정이 아님. 유형은 상호 배타적이지">
            <a:extLst xmlns:a="http://schemas.openxmlformats.org/drawingml/2006/main">
              <a:ext uri="{FF2B5EF4-FFF2-40B4-BE49-F238E27FC236}">
                <a16:creationId xmlns:a16="http://schemas.microsoft.com/office/drawing/2014/main" id="{C15E2D44-A65F-46DB-9BBB-36535E95E6BC}"/>
              </a:ext>
            </a:extLst>
          </p:cNvPr>
          <p:cNvSpPr>
            <a:spLocks xmlns:a="http://schemas.openxmlformats.org/drawingml/2006/main" noGrp="1"/>
          </p:cNvSpPr>
          <p:nvPr/>
        </p:nvSpPr>
        <p:spPr>
          <a:xfrm xmlns:a="http://schemas.openxmlformats.org/drawingml/2006/main">
            <a:off x="4572000" y="6486525"/>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각 공지의 해당 시점 사례이며, 현행 공통 규정이 아님. 유형은 상호 배타적이지 않음.</a:t>
            </a:r>
          </a:p>
        </p:txBody>
      </p:sp>
    </p:spTree>
    <p:extLst>
      <p:ext uri="{BB962C8B-B14F-4D97-AF65-F5344CB8AC3E}">
        <p14:creationId xmlns:p14="http://schemas.microsoft.com/office/powerpoint/2010/main" val="2919597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다전공 환경에서 발생하는 정보 탐색 부담">
            <a:extLst xmlns:a="http://schemas.openxmlformats.org/drawingml/2006/main">
              <a:ext uri="{FF2B5EF4-FFF2-40B4-BE49-F238E27FC236}">
                <a16:creationId xmlns:a16="http://schemas.microsoft.com/office/drawing/2014/main" id="{F67C737A-92AF-4AA2-BBF0-B01073DB2AFF}"/>
              </a:ext>
            </a:extLst>
          </p:cNvPr>
          <p:cNvSpPr>
            <a:spLocks xmlns:a="http://schemas.openxmlformats.org/drawingml/2006/main" noGrp="1"/>
          </p:cNvSpPr>
          <p:nvPr/>
        </p:nvSpPr>
        <p:spPr>
          <a:xfrm xmlns:a="http://schemas.openxmlformats.org/drawingml/2006/main">
            <a:off x="533400" y="361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75" b="1">
                <a:solidFill>
                  <a:srgbClr val="142C40"/>
                </a:solidFill>
                <a:latin typeface="Apple SD Gothic Neo"/>
                <a:ea typeface="Apple SD Gothic Neo"/>
                <a:cs typeface="Apple SD Gothic Neo"/>
              </a:defRPr>
            </a:pPr>
            <a:r>
              <a:rPr sz="3075" b="1">
                <a:solidFill>
                  <a:srgbClr val="142C40"/>
                </a:solidFill>
                <a:latin typeface="Apple SD Gothic Neo"/>
                <a:ea typeface="Apple SD Gothic Neo"/>
                <a:cs typeface="Apple SD Gothic Neo"/>
              </a:rPr>
              <a:t>다전공 환경에서 발생하는 정보 탐색 부담</a:t>
            </a:r>
          </a:p>
        </p:txBody>
      </p:sp>
      <p:sp>
        <p:nvSpPr>
          <p:cNvPr id="2" name="학생은 여러 학과의 공지를 직접 수집·해석하고, 자신에게 적용되는 절차를 통합해">
            <a:extLst xmlns:a="http://schemas.openxmlformats.org/drawingml/2006/main">
              <a:ext uri="{FF2B5EF4-FFF2-40B4-BE49-F238E27FC236}">
                <a16:creationId xmlns:a16="http://schemas.microsoft.com/office/drawing/2014/main" id="{D1FCCF63-3F06-483F-8315-C543D6F735BD}"/>
              </a:ext>
            </a:extLst>
          </p:cNvPr>
          <p:cNvSpPr>
            <a:spLocks xmlns:a="http://schemas.openxmlformats.org/drawingml/2006/main" noGrp="1"/>
          </p:cNvSpPr>
          <p:nvPr/>
        </p:nvSpPr>
        <p:spPr>
          <a:xfrm xmlns:a="http://schemas.openxmlformats.org/drawingml/2006/main">
            <a:off x="552450" y="117157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6F78"/>
                </a:solidFill>
                <a:latin typeface="Apple SD Gothic Neo"/>
                <a:ea typeface="Apple SD Gothic Neo"/>
                <a:cs typeface="Apple SD Gothic Neo"/>
              </a:defRPr>
            </a:pPr>
            <a:r>
              <a:rPr sz="2175" b="1">
                <a:solidFill>
                  <a:srgbClr val="006F78"/>
                </a:solidFill>
                <a:latin typeface="Apple SD Gothic Neo"/>
                <a:ea typeface="Apple SD Gothic Neo"/>
                <a:cs typeface="Apple SD Gothic Neo"/>
              </a:rPr>
              <a:t>학생은 여러 학과의 공지를 직접 수집·해석하고, 자신에게 적용되는 절차를 통합해야 함</a:t>
            </a:r>
          </a:p>
        </p:txBody>
      </p:sp>
      <p:sp>
        <p:nvSpPr>
          <p:cNvPr id="3" name="03">
            <a:extLst xmlns:a="http://schemas.openxmlformats.org/drawingml/2006/main">
              <a:ext uri="{FF2B5EF4-FFF2-40B4-BE49-F238E27FC236}">
                <a16:creationId xmlns:a16="http://schemas.microsoft.com/office/drawing/2014/main" id="{8FAE7F75-DA65-452C-8312-542041BCB90A}"/>
              </a:ext>
            </a:extLst>
          </p:cNvPr>
          <p:cNvSpPr>
            <a:spLocks xmlns:a="http://schemas.openxmlformats.org/drawingml/2006/main" noGrp="1"/>
          </p:cNvSpPr>
          <p:nvPr/>
        </p:nvSpPr>
        <p:spPr>
          <a:xfrm xmlns:a="http://schemas.openxmlformats.org/drawingml/2006/main">
            <a:off x="11277600" y="64103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03</a:t>
            </a:r>
          </a:p>
        </p:txBody>
      </p:sp>
      <p:graphicFrame>
        <p:nvGraphicFramePr>
          <p:cNvPr id="11" name=""/>
          <p:cNvGraphicFramePr/>
          <p:nvPr/>
        </p:nvGraphicFramePr>
        <p:xfrm>
          <a:off xmlns:a="http://schemas.openxmlformats.org/drawingml/2006/main" x="533400" y="2066925"/>
          <a:ext xmlns:a="http://schemas.openxmlformats.org/drawingml/2006/main" cx="11125200" cy="2990850"/>
        </p:xfrm>
        <a:graphic xmlns:a="http://schemas.openxmlformats.org/drawingml/2006/main">
          <a:graphicData uri="http://schemas.openxmlformats.org/drawingml/2006/table">
            <a:tbl>
              <a:tblPr/>
              <a:tblGrid>
                <a:gridCol w="2743200"/>
                <a:gridCol w="4476750"/>
                <a:gridCol w="3905250"/>
              </a:tblGrid>
              <a:tr h="419100">
                <a:tc>
                  <a:txBody>
                    <a:bodyPr>
                      <a:noAutofit/>
                    </a:bodyPr>
                    <a:lstStyle/>
                    <a:p>
                      <a:r>
                        <a:rPr sz="1650" b="1">
                          <a:solidFill>
                            <a:srgbClr val="FFFFFF"/>
                          </a:solidFill>
                          <a:latin typeface="Apple SD Gothic Neo"/>
                          <a:ea typeface="Apple SD Gothic Neo"/>
                          <a:cs typeface="Apple SD Gothic Neo"/>
                        </a:rPr>
                        <a:t>상황적 요인</a:t>
                      </a:r>
                    </a:p>
                  </a:txBody>
                  <a:tcPr marL="152400" marR="152400" marT="104775" marB="95250" anchor="ctr">
                    <a:solidFill>
                      <a:srgbClr val="142C40"/>
                    </a:solidFill>
                  </a:tcPr>
                </a:tc>
                <a:tc>
                  <a:txBody>
                    <a:bodyPr>
                      <a:noAutofit/>
                    </a:bodyPr>
                    <a:lstStyle/>
                    <a:p>
                      <a:r>
                        <a:rPr sz="1650" b="1">
                          <a:solidFill>
                            <a:srgbClr val="FFFFFF"/>
                          </a:solidFill>
                          <a:latin typeface="Apple SD Gothic Neo"/>
                          <a:ea typeface="Apple SD Gothic Neo"/>
                          <a:cs typeface="Apple SD Gothic Neo"/>
                        </a:rPr>
                        <a:t>학생에게 발생하는 추가 과업</a:t>
                      </a:r>
                    </a:p>
                  </a:txBody>
                  <a:tcPr marL="152400" marR="152400" marT="104775" marB="95250" anchor="ctr">
                    <a:solidFill>
                      <a:srgbClr val="142C40"/>
                    </a:solidFill>
                  </a:tcPr>
                </a:tc>
                <a:tc>
                  <a:txBody>
                    <a:bodyPr>
                      <a:noAutofit/>
                    </a:bodyPr>
                    <a:lstStyle/>
                    <a:p>
                      <a:r>
                        <a:rPr sz="1650" b="1">
                          <a:solidFill>
                            <a:srgbClr val="FFFFFF"/>
                          </a:solidFill>
                          <a:latin typeface="Apple SD Gothic Neo"/>
                          <a:ea typeface="Apple SD Gothic Neo"/>
                          <a:cs typeface="Apple SD Gothic Neo"/>
                        </a:rPr>
                        <a:t>관찰된 어려움 및 예상 영향</a:t>
                      </a:r>
                    </a:p>
                  </a:txBody>
                  <a:tcPr marL="152400" marR="152400" marT="104775" marB="95250" anchor="ctr">
                    <a:solidFill>
                      <a:srgbClr val="142C40"/>
                    </a:solidFill>
                  </a:tcPr>
                </a:tc>
              </a:tr>
              <a:tr h="857250">
                <a:tc>
                  <a:txBody>
                    <a:bodyPr>
                      <a:noAutofit/>
                    </a:bodyPr>
                    <a:lstStyle/>
                    <a:p>
                      <a:r>
                        <a:rPr sz="1650" b="1">
                          <a:solidFill>
                            <a:srgbClr val="142C40"/>
                          </a:solidFill>
                          <a:latin typeface="Apple SD Gothic Neo"/>
                          <a:ea typeface="Apple SD Gothic Neo"/>
                          <a:cs typeface="Apple SD Gothic Neo"/>
                        </a:rPr>
                        <a:t>학과별 공지 채널 분산</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학과 게시판과 메일을 반복 확인하고,</a:t>
                      </a:r>
                    </a:p>
                    <a:p>
                      <a:r>
                        <a:rPr sz="1650" b="0">
                          <a:solidFill>
                            <a:srgbClr val="142C40"/>
                          </a:solidFill>
                          <a:latin typeface="Apple SD Gothic Neo"/>
                          <a:ea typeface="Apple SD Gothic Neo"/>
                          <a:cs typeface="Apple SD Gothic Neo"/>
                        </a:rPr>
                        <a:t>새 공지·서식·일정 변경을 따로 추적</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찾아야 할 위치와 확인 시점이 늘어나</a:t>
                      </a:r>
                    </a:p>
                    <a:p>
                      <a:r>
                        <a:rPr sz="1650" b="0">
                          <a:solidFill>
                            <a:srgbClr val="142C40"/>
                          </a:solidFill>
                          <a:latin typeface="Apple SD Gothic Neo"/>
                          <a:ea typeface="Apple SD Gothic Neo"/>
                          <a:cs typeface="Apple SD Gothic Neo"/>
                        </a:rPr>
                        <a:t>공지 누락 또는 변경사항 인지 지연 가능</a:t>
                      </a:r>
                    </a:p>
                  </a:txBody>
                  <a:tcPr marL="152400" marR="152400" marT="104775" marB="95250" anchor="ctr">
                    <a:solidFill>
                      <a:srgbClr val="FFFFFF"/>
                    </a:solidFill>
                  </a:tcPr>
                </a:tc>
              </a:tr>
              <a:tr h="857250">
                <a:tc>
                  <a:txBody>
                    <a:bodyPr>
                      <a:noAutofit/>
                    </a:bodyPr>
                    <a:lstStyle/>
                    <a:p>
                      <a:r>
                        <a:rPr sz="1650" b="1">
                          <a:solidFill>
                            <a:srgbClr val="142C40"/>
                          </a:solidFill>
                          <a:latin typeface="Apple SD Gothic Neo"/>
                          <a:ea typeface="Apple SD Gothic Neo"/>
                          <a:cs typeface="Apple SD Gothic Neo"/>
                        </a:rPr>
                        <a:t>전공별로 다른 적용 요건</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주전공·복수전공 대상 여부와 절차를 구분하고,</a:t>
                      </a:r>
                    </a:p>
                    <a:p>
                      <a:r>
                        <a:rPr sz="1650" b="0">
                          <a:solidFill>
                            <a:srgbClr val="142C40"/>
                          </a:solidFill>
                          <a:latin typeface="Apple SD Gothic Neo"/>
                          <a:ea typeface="Apple SD Gothic Neo"/>
                          <a:cs typeface="Apple SD Gothic Neo"/>
                        </a:rPr>
                        <a:t>각 전공의 제출 순서·마감을 한 일정으로 정리</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한 학과의 경험을 다른 학과에 적용하기 어렵고,</a:t>
                      </a:r>
                    </a:p>
                    <a:p>
                      <a:r>
                        <a:rPr sz="1650" b="0">
                          <a:solidFill>
                            <a:srgbClr val="142C40"/>
                          </a:solidFill>
                          <a:latin typeface="Apple SD Gothic Neo"/>
                          <a:ea typeface="Apple SD Gothic Neo"/>
                          <a:cs typeface="Apple SD Gothic Neo"/>
                        </a:rPr>
                        <a:t>서로 겹치는 일정에 대한 사전 판단이 필요</a:t>
                      </a:r>
                    </a:p>
                  </a:txBody>
                  <a:tcPr marL="152400" marR="152400" marT="104775" marB="95250" anchor="ctr">
                    <a:solidFill>
                      <a:srgbClr val="FFFFFF"/>
                    </a:solidFill>
                  </a:tcPr>
                </a:tc>
              </a:tr>
              <a:tr h="857250">
                <a:tc>
                  <a:txBody>
                    <a:bodyPr>
                      <a:noAutofit/>
                    </a:bodyPr>
                    <a:lstStyle/>
                    <a:p>
                      <a:r>
                        <a:rPr sz="1650" b="1">
                          <a:solidFill>
                            <a:srgbClr val="142C40"/>
                          </a:solidFill>
                          <a:latin typeface="Apple SD Gothic Neo"/>
                          <a:ea typeface="Apple SD Gothic Neo"/>
                          <a:cs typeface="Apple SD Gothic Neo"/>
                        </a:rPr>
                        <a:t>복수전공 학과의</a:t>
                      </a:r>
                    </a:p>
                    <a:p>
                      <a:r>
                        <a:rPr sz="1650" b="1">
                          <a:solidFill>
                            <a:srgbClr val="142C40"/>
                          </a:solidFill>
                          <a:latin typeface="Apple SD Gothic Neo"/>
                          <a:ea typeface="Apple SD Gothic Neo"/>
                          <a:cs typeface="Apple SD Gothic Neo"/>
                        </a:rPr>
                        <a:t>인적 연결 부족</a:t>
                      </a:r>
                    </a:p>
                  </a:txBody>
                  <a:tcPr marL="152400" marR="152400" marT="104775" marB="95250" anchor="ctr">
                    <a:solidFill>
                      <a:srgbClr val="EEF3F5"/>
                    </a:solidFill>
                  </a:tcPr>
                </a:tc>
                <a:tc>
                  <a:txBody>
                    <a:bodyPr>
                      <a:noAutofit/>
                    </a:bodyPr>
                    <a:lstStyle/>
                    <a:p>
                      <a:r>
                        <a:rPr sz="1650" b="0">
                          <a:solidFill>
                            <a:srgbClr val="142C40"/>
                          </a:solidFill>
                          <a:latin typeface="Apple SD Gothic Neo"/>
                          <a:ea typeface="Apple SD Gothic Neo"/>
                          <a:cs typeface="Apple SD Gothic Neo"/>
                        </a:rPr>
                        <a:t>아는 동기·선배가 없는 경우, 익명 커뮤니티에</a:t>
                      </a:r>
                    </a:p>
                    <a:p>
                      <a:r>
                        <a:rPr sz="1650" b="0">
                          <a:solidFill>
                            <a:srgbClr val="142C40"/>
                          </a:solidFill>
                          <a:latin typeface="Apple SD Gothic Neo"/>
                          <a:ea typeface="Apple SD Gothic Neo"/>
                          <a:cs typeface="Apple SD Gothic Neo"/>
                        </a:rPr>
                        <a:t>질문하거나 학과에 다시 문의하여 보완</a:t>
                      </a:r>
                    </a:p>
                  </a:txBody>
                  <a:tcPr marL="152400" marR="152400" marT="104775" marB="95250" anchor="ctr">
                    <a:solidFill>
                      <a:srgbClr val="FFFFFF"/>
                    </a:solidFill>
                  </a:tcPr>
                </a:tc>
                <a:tc>
                  <a:txBody>
                    <a:bodyPr>
                      <a:noAutofit/>
                    </a:bodyPr>
                    <a:lstStyle/>
                    <a:p>
                      <a:r>
                        <a:rPr sz="1650" b="0">
                          <a:solidFill>
                            <a:srgbClr val="142C40"/>
                          </a:solidFill>
                          <a:latin typeface="Apple SD Gothic Neo"/>
                          <a:ea typeface="Apple SD Gothic Neo"/>
                          <a:cs typeface="Apple SD Gothic Neo"/>
                        </a:rPr>
                        <a:t>답변이 최신 공지에 근거하는지, 본인에게도</a:t>
                      </a:r>
                    </a:p>
                    <a:p>
                      <a:r>
                        <a:rPr sz="1650" b="0">
                          <a:solidFill>
                            <a:srgbClr val="142C40"/>
                          </a:solidFill>
                          <a:latin typeface="Apple SD Gothic Neo"/>
                          <a:ea typeface="Apple SD Gothic Neo"/>
                          <a:cs typeface="Apple SD Gothic Neo"/>
                        </a:rPr>
                        <a:t>적용되는지를 재확인해야 하는 부담 발생</a:t>
                      </a:r>
                    </a:p>
                  </a:txBody>
                  <a:tcPr marL="152400" marR="152400" marT="104775" marB="95250" anchor="ctr">
                    <a:solidFill>
                      <a:srgbClr val="FFFFFF"/>
                    </a:solidFill>
                  </a:tcPr>
                </a:tc>
              </a:tr>
            </a:tbl>
          </a:graphicData>
        </a:graphic>
      </p:graphicFrame>
      <p:sp>
        <p:nvSpPr>
          <p:cNvPr id="5" name="핵심 문제 정의">
            <a:extLst xmlns:a="http://schemas.openxmlformats.org/drawingml/2006/main">
              <a:ext uri="{FF2B5EF4-FFF2-40B4-BE49-F238E27FC236}">
                <a16:creationId xmlns:a16="http://schemas.microsoft.com/office/drawing/2014/main" id="{458B41FD-349B-4266-9713-8F406D0E7613}"/>
              </a:ext>
            </a:extLst>
          </p:cNvPr>
          <p:cNvSpPr>
            <a:spLocks xmlns:a="http://schemas.openxmlformats.org/drawingml/2006/main" noGrp="1"/>
          </p:cNvSpPr>
          <p:nvPr/>
        </p:nvSpPr>
        <p:spPr>
          <a:xfrm xmlns:a="http://schemas.openxmlformats.org/drawingml/2006/main">
            <a:off x="533400" y="54006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6F78"/>
                </a:solidFill>
                <a:latin typeface="Apple SD Gothic Neo"/>
                <a:ea typeface="Apple SD Gothic Neo"/>
                <a:cs typeface="Apple SD Gothic Neo"/>
              </a:defRPr>
            </a:pPr>
            <a:r>
              <a:rPr sz="1875" b="1">
                <a:solidFill>
                  <a:srgbClr val="006F78"/>
                </a:solidFill>
                <a:latin typeface="Apple SD Gothic Neo"/>
                <a:ea typeface="Apple SD Gothic Neo"/>
                <a:cs typeface="Apple SD Gothic Neo"/>
              </a:rPr>
              <a:t>핵심 문제 정의</a:t>
            </a:r>
          </a:p>
        </p:txBody>
      </p:sp>
      <p:sp>
        <p:nvSpPr>
          <p:cNvPr id="6" name="학과별로 존재하는 공식 정보를 학생 개인이 다시 모으고 해석해야 하므로,&#10;“내 ">
            <a:extLst xmlns:a="http://schemas.openxmlformats.org/drawingml/2006/main">
              <a:ext uri="{FF2B5EF4-FFF2-40B4-BE49-F238E27FC236}">
                <a16:creationId xmlns:a16="http://schemas.microsoft.com/office/drawing/2014/main" id="{4451CDEB-AC9E-445A-A82B-F95F11C02D88}"/>
              </a:ext>
            </a:extLst>
          </p:cNvPr>
          <p:cNvSpPr>
            <a:spLocks xmlns:a="http://schemas.openxmlformats.org/drawingml/2006/main" noGrp="1"/>
          </p:cNvSpPr>
          <p:nvPr/>
        </p:nvSpPr>
        <p:spPr>
          <a:xfrm xmlns:a="http://schemas.openxmlformats.org/drawingml/2006/main">
            <a:off x="533400" y="58388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C40"/>
                </a:solidFill>
                <a:latin typeface="Apple SD Gothic Neo"/>
                <a:ea typeface="Apple SD Gothic Neo"/>
                <a:cs typeface="Apple SD Gothic Neo"/>
              </a:defRPr>
            </a:pPr>
            <a:r>
              <a:rPr sz="1950" b="1">
                <a:solidFill>
                  <a:srgbClr val="142C40"/>
                </a:solidFill>
                <a:latin typeface="Apple SD Gothic Neo"/>
                <a:ea typeface="Apple SD Gothic Neo"/>
                <a:cs typeface="Apple SD Gothic Neo"/>
              </a:rPr>
              <a:t>학과별로 존재하는 공식 정보를 학생 개인이 다시 모으고 해석해야 하므로,</a:t>
            </a:r>
          </a:p>
          <a:p xmlns:a="http://schemas.openxmlformats.org/drawingml/2006/main">
            <a:pPr>
              <a:defRPr sz="1950" b="1">
                <a:solidFill>
                  <a:srgbClr val="142C40"/>
                </a:solidFill>
                <a:latin typeface="Apple SD Gothic Neo"/>
                <a:ea typeface="Apple SD Gothic Neo"/>
                <a:cs typeface="Apple SD Gothic Neo"/>
              </a:defRPr>
            </a:pPr>
            <a:r>
              <a:rPr sz="1950" b="1">
                <a:solidFill>
                  <a:srgbClr val="142C40"/>
                </a:solidFill>
                <a:latin typeface="Apple SD Gothic Neo"/>
                <a:ea typeface="Apple SD Gothic Neo"/>
                <a:cs typeface="Apple SD Gothic Neo"/>
              </a:rPr>
              <a:t>“내 전공에서 지금 무엇을, 언제까지, 어디에 제출해야 하는가”를 한 번에 파악하기 어렵습니다.</a:t>
            </a:r>
          </a:p>
        </p:txBody>
      </p:sp>
      <p:sp>
        <p:nvSpPr>
          <p:cNvPr id="7" name="근거 구분: 채널 분산·인적 연결 부족·커뮤니티 이용은 기획자의 관찰. 누락·지">
            <a:extLst xmlns:a="http://schemas.openxmlformats.org/drawingml/2006/main">
              <a:ext uri="{FF2B5EF4-FFF2-40B4-BE49-F238E27FC236}">
                <a16:creationId xmlns:a16="http://schemas.microsoft.com/office/drawing/2014/main" id="{C03185DF-05F3-4E79-B4EA-C8400D303691}"/>
              </a:ext>
            </a:extLst>
          </p:cNvPr>
          <p:cNvSpPr>
            <a:spLocks xmlns:a="http://schemas.openxmlformats.org/drawingml/2006/main" noGrp="1"/>
          </p:cNvSpPr>
          <p:nvPr/>
        </p:nvSpPr>
        <p:spPr>
          <a:xfrm xmlns:a="http://schemas.openxmlformats.org/drawingml/2006/main">
            <a:off x="533400" y="650557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A5D6C"/>
                </a:solidFill>
                <a:latin typeface="Apple SD Gothic Neo"/>
                <a:ea typeface="Apple SD Gothic Neo"/>
                <a:cs typeface="Apple SD Gothic Neo"/>
              </a:defRPr>
            </a:pPr>
            <a:r>
              <a:rPr sz="1200" b="0">
                <a:solidFill>
                  <a:srgbClr val="4A5D6C"/>
                </a:solidFill>
                <a:latin typeface="Apple SD Gothic Neo"/>
                <a:ea typeface="Apple SD Gothic Neo"/>
                <a:cs typeface="Apple SD Gothic Neo"/>
              </a:rPr>
              <a:t>근거 구분: 채널 분산·인적 연결 부족·커뮤니티 이용은 기획자의 관찰. 누락·지연은 예상 위험이며 발생률·시간 절감 효과는 미측정.</a:t>
            </a:r>
          </a:p>
        </p:txBody>
      </p:sp>
    </p:spTree>
    <p:extLst>
      <p:ext uri="{BB962C8B-B14F-4D97-AF65-F5344CB8AC3E}">
        <p14:creationId xmlns:p14="http://schemas.microsoft.com/office/powerpoint/2010/main" val="1574324777"/>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3" name="학생: 전공별 진행 상황을 한 화면에서">
            <a:extLst xmlns:a="http://schemas.openxmlformats.org/drawingml/2006/main">
              <a:ext uri="{FF2B5EF4-FFF2-40B4-BE49-F238E27FC236}">
                <a16:creationId xmlns:a16="http://schemas.microsoft.com/office/drawing/2014/main" id="{07C952BF-D83A-47F9-A79A-EF218A2B3E5D}"/>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42C40"/>
                </a:solidFill>
                <a:latin typeface="Apple SD Gothic Neo"/>
                <a:ea typeface="Apple SD Gothic Neo"/>
                <a:cs typeface="Apple SD Gothic Neo"/>
              </a:defRPr>
            </a:pPr>
            <a:r>
              <a:rPr sz="3300" b="1">
                <a:solidFill>
                  <a:srgbClr val="142C40"/>
                </a:solidFill>
                <a:latin typeface="Apple SD Gothic Neo"/>
                <a:ea typeface="Apple SD Gothic Neo"/>
                <a:cs typeface="Apple SD Gothic Neo"/>
              </a:rPr>
              <a:t>학생: 전공별 진행 상황을 한 화면에서</a:t>
            </a:r>
          </a:p>
        </p:txBody>
      </p:sp>
      <p:sp>
        <p:nvSpPr>
          <p:cNvPr id="2" name="04">
            <a:extLst xmlns:a="http://schemas.openxmlformats.org/drawingml/2006/main">
              <a:ext uri="{FF2B5EF4-FFF2-40B4-BE49-F238E27FC236}">
                <a16:creationId xmlns:a16="http://schemas.microsoft.com/office/drawing/2014/main" id="{DC509C1A-168F-466E-B8BB-D6E29DAC2421}"/>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04</a:t>
            </a:r>
          </a:p>
        </p:txBody>
      </p:sp>
      <p:sp>
        <p:nvSpPr>
          <p:cNvPr id="3" name="흩어진 안내를 나의 전공과 현재 단계에 맞춰 보여줍니다.">
            <a:extLst xmlns:a="http://schemas.openxmlformats.org/drawingml/2006/main">
              <a:ext uri="{FF2B5EF4-FFF2-40B4-BE49-F238E27FC236}">
                <a16:creationId xmlns:a16="http://schemas.microsoft.com/office/drawing/2014/main" id="{B795E732-2D90-49EF-AD69-C4DD19A3ED7F}"/>
              </a:ext>
            </a:extLst>
          </p:cNvPr>
          <p:cNvSpPr>
            <a:spLocks xmlns:a="http://schemas.openxmlformats.org/drawingml/2006/main" noGrp="1"/>
          </p:cNvSpPr>
          <p:nvPr/>
        </p:nvSpPr>
        <p:spPr>
          <a:xfrm xmlns:a="http://schemas.openxmlformats.org/drawingml/2006/main">
            <a:off x="628650" y="13811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536777"/>
                </a:solidFill>
                <a:latin typeface="Apple SD Gothic Neo"/>
                <a:ea typeface="Apple SD Gothic Neo"/>
                <a:cs typeface="Apple SD Gothic Neo"/>
              </a:defRPr>
            </a:pPr>
            <a:r>
              <a:rPr sz="2100" b="0">
                <a:solidFill>
                  <a:srgbClr val="536777"/>
                </a:solidFill>
                <a:latin typeface="Apple SD Gothic Neo"/>
                <a:ea typeface="Apple SD Gothic Neo"/>
                <a:cs typeface="Apple SD Gothic Neo"/>
              </a:rPr>
              <a:t>흩어진 안내를 나의 전공과 현재 단계에 맞춰 보여줍니다.</a:t>
            </a:r>
          </a:p>
        </p:txBody>
      </p:sp>
      <p:sp>
        <p:nvSpPr>
          <p:cNvPr id="4" name="전공별 로드맵과 다음 할 일">
            <a:extLst xmlns:a="http://schemas.openxmlformats.org/drawingml/2006/main">
              <a:ext uri="{FF2B5EF4-FFF2-40B4-BE49-F238E27FC236}">
                <a16:creationId xmlns:a16="http://schemas.microsoft.com/office/drawing/2014/main" id="{0BE428C4-2112-4599-A181-16D80680C096}"/>
              </a:ext>
            </a:extLst>
          </p:cNvPr>
          <p:cNvSpPr>
            <a:spLocks xmlns:a="http://schemas.openxmlformats.org/drawingml/2006/main" noGrp="1"/>
          </p:cNvSpPr>
          <p:nvPr/>
        </p:nvSpPr>
        <p:spPr>
          <a:xfrm xmlns:a="http://schemas.openxmlformats.org/drawingml/2006/main">
            <a:off x="609600" y="229552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전공별 로드맵과 다음 할 일</a:t>
            </a:r>
          </a:p>
        </p:txBody>
      </p:sp>
      <p:sp>
        <p:nvSpPr>
          <p:cNvPr id="5" name="주전공·복수전공의 절차를 구분하고&#10;현재 단계, 마감, 제출">
            <a:extLst xmlns:a="http://schemas.openxmlformats.org/drawingml/2006/main">
              <a:ext uri="{FF2B5EF4-FFF2-40B4-BE49-F238E27FC236}">
                <a16:creationId xmlns:a16="http://schemas.microsoft.com/office/drawing/2014/main" id="{694AE2E7-AC5C-4C29-A50B-F432C4EE20DA}"/>
              </a:ext>
            </a:extLst>
          </p:cNvPr>
          <p:cNvSpPr>
            <a:spLocks xmlns:a="http://schemas.openxmlformats.org/drawingml/2006/main" noGrp="1"/>
          </p:cNvSpPr>
          <p:nvPr/>
        </p:nvSpPr>
        <p:spPr>
          <a:xfrm xmlns:a="http://schemas.openxmlformats.org/drawingml/2006/main">
            <a:off x="609600" y="277177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주전공·복수전공의 절차를 구분하고</a:t>
            </a:r>
          </a:p>
          <a:p xmlns:a="http://schemas.openxmlformats.org/drawingml/2006/main">
            <a:pPr>
              <a:buNone/>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현재 단계, 마감, 제출처를 확인합니다.</a:t>
            </a:r>
          </a:p>
        </p:txBody>
      </p:sp>
      <p:sp>
        <p:nvSpPr>
          <p:cNvPr id="6" name="모든 전공을 합친 일정">
            <a:extLst xmlns:a="http://schemas.openxmlformats.org/drawingml/2006/main">
              <a:ext uri="{FF2B5EF4-FFF2-40B4-BE49-F238E27FC236}">
                <a16:creationId xmlns:a16="http://schemas.microsoft.com/office/drawing/2014/main" id="{AD2B0893-191A-4A1F-BB5A-D3477B0CB209}"/>
              </a:ext>
            </a:extLst>
          </p:cNvPr>
          <p:cNvSpPr>
            <a:spLocks xmlns:a="http://schemas.openxmlformats.org/drawingml/2006/main" noGrp="1"/>
          </p:cNvSpPr>
          <p:nvPr/>
        </p:nvSpPr>
        <p:spPr>
          <a:xfrm xmlns:a="http://schemas.openxmlformats.org/drawingml/2006/main">
            <a:off x="609600" y="38481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모든 전공을 합친 일정</a:t>
            </a:r>
          </a:p>
        </p:txBody>
      </p:sp>
      <p:sp>
        <p:nvSpPr>
          <p:cNvPr id="7" name="마감·면담·공지 일정을 한 달력에 모아&#10;전공별 색상과 필터">
            <a:extLst xmlns:a="http://schemas.openxmlformats.org/drawingml/2006/main">
              <a:ext uri="{FF2B5EF4-FFF2-40B4-BE49-F238E27FC236}">
                <a16:creationId xmlns:a16="http://schemas.microsoft.com/office/drawing/2014/main" id="{27BEDD1E-78AF-400B-8483-5D1ED826D879}"/>
              </a:ext>
            </a:extLst>
          </p:cNvPr>
          <p:cNvSpPr>
            <a:spLocks xmlns:a="http://schemas.openxmlformats.org/drawingml/2006/main" noGrp="1"/>
          </p:cNvSpPr>
          <p:nvPr/>
        </p:nvSpPr>
        <p:spPr>
          <a:xfrm xmlns:a="http://schemas.openxmlformats.org/drawingml/2006/main">
            <a:off x="609600" y="4324350"/>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마감·면담·공지 일정을 한 달력에 모아</a:t>
            </a:r>
          </a:p>
          <a:p xmlns:a="http://schemas.openxmlformats.org/drawingml/2006/main">
            <a:pPr>
              <a:buNone/>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전공별 색상과 필터로 비교합니다.</a:t>
            </a:r>
          </a:p>
        </p:txBody>
      </p:sp>
      <p:sp>
        <p:nvSpPr>
          <p:cNvPr id="8" name="신청부터 보완까지 연결">
            <a:extLst xmlns:a="http://schemas.openxmlformats.org/drawingml/2006/main">
              <a:ext uri="{FF2B5EF4-FFF2-40B4-BE49-F238E27FC236}">
                <a16:creationId xmlns:a16="http://schemas.microsoft.com/office/drawing/2014/main" id="{076D0168-AB6C-4F74-96ED-634B9F18716C}"/>
              </a:ext>
            </a:extLst>
          </p:cNvPr>
          <p:cNvSpPr>
            <a:spLocks xmlns:a="http://schemas.openxmlformats.org/drawingml/2006/main" noGrp="1"/>
          </p:cNvSpPr>
          <p:nvPr/>
        </p:nvSpPr>
        <p:spPr>
          <a:xfrm xmlns:a="http://schemas.openxmlformats.org/drawingml/2006/main">
            <a:off x="609600" y="53816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신청부터 보완까지 연결</a:t>
            </a:r>
          </a:p>
        </p:txBody>
      </p:sp>
      <p:sp>
        <p:nvSpPr>
          <p:cNvPr id="9" name="교수 탐색, 자료 제출, 면담 시간 선택,&#10;피드백 확인을 ">
            <a:extLst xmlns:a="http://schemas.openxmlformats.org/drawingml/2006/main">
              <a:ext uri="{FF2B5EF4-FFF2-40B4-BE49-F238E27FC236}">
                <a16:creationId xmlns:a16="http://schemas.microsoft.com/office/drawing/2014/main" id="{9943DCB8-7E24-4A4B-8DC4-7AC06A31013A}"/>
              </a:ext>
            </a:extLst>
          </p:cNvPr>
          <p:cNvSpPr>
            <a:spLocks xmlns:a="http://schemas.openxmlformats.org/drawingml/2006/main" noGrp="1"/>
          </p:cNvSpPr>
          <p:nvPr/>
        </p:nvSpPr>
        <p:spPr>
          <a:xfrm xmlns:a="http://schemas.openxmlformats.org/drawingml/2006/main">
            <a:off x="609600" y="5838825"/>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42C40"/>
                </a:solidFill>
                <a:latin typeface="Apple SD Gothic Neo"/>
                <a:ea typeface="Apple SD Gothic Neo"/>
                <a:cs typeface="Apple SD Gothic Neo"/>
              </a:defRPr>
            </a:pPr>
            <a:r>
              <a:rPr sz="1875" b="0">
                <a:solidFill>
                  <a:srgbClr val="142C40"/>
                </a:solidFill>
                <a:latin typeface="Apple SD Gothic Neo"/>
                <a:ea typeface="Apple SD Gothic Neo"/>
                <a:cs typeface="Apple SD Gothic Neo"/>
              </a:rPr>
              <a:t>교수 탐색, 자료 제출, 면담 시간 선택,</a:t>
            </a:r>
          </a:p>
          <a:p xmlns:a="http://schemas.openxmlformats.org/drawingml/2006/main">
            <a:pPr>
              <a:buNone/>
              <a:defRPr sz="1875" b="0">
                <a:solidFill>
                  <a:srgbClr val="142C40"/>
                </a:solidFill>
                <a:latin typeface="Apple SD Gothic Neo"/>
                <a:ea typeface="Apple SD Gothic Neo"/>
                <a:cs typeface="Apple SD Gothic Neo"/>
              </a:defRPr>
            </a:pPr>
            <a:r>
              <a:rPr sz="1875" b="0">
                <a:solidFill>
                  <a:srgbClr val="142C40"/>
                </a:solidFill>
                <a:latin typeface="Apple SD Gothic Neo"/>
                <a:ea typeface="Apple SD Gothic Neo"/>
                <a:cs typeface="Apple SD Gothic Neo"/>
              </a:rPr>
              <a:t>피드백 확인을 같은 화면에서 처리합니다.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9f0f2f8d0bd4a5d"/>
          <a:srcRect xmlns:a="http://schemas.openxmlformats.org/drawingml/2006/main" l="0" t="10146" r="0" b="10146"/>
          <a:stretch xmlns:a="http://schemas.openxmlformats.org/drawingml/2006/main">
            <a:fillRect l="0" t="0" r="0" b="0"/>
          </a:stretch>
        </p:blipFill>
        <p:spPr>
          <a:xfrm xmlns:a="http://schemas.openxmlformats.org/drawingml/2006/main">
            <a:off x="5219700" y="2266950"/>
            <a:ext cx="6362700" cy="3276600"/>
          </a:xfrm>
          <a:prstGeom xmlns:a="http://schemas.openxmlformats.org/drawingml/2006/main" prst="rect">
            <a:avLst/>
          </a:prstGeom>
        </p:spPr>
      </p:pic>
      <p:sp>
        <p:nvSpPr>
          <p:cNvPr id="11" name="전공 요약과 다음 할 일 · 실제 데모 화면">
            <a:extLst xmlns:a="http://schemas.openxmlformats.org/drawingml/2006/main">
              <a:ext uri="{FF2B5EF4-FFF2-40B4-BE49-F238E27FC236}">
                <a16:creationId xmlns:a16="http://schemas.microsoft.com/office/drawing/2014/main" id="{3F254D23-1B2C-45FD-B305-F57DC14D9099}"/>
              </a:ext>
            </a:extLst>
          </p:cNvPr>
          <p:cNvSpPr>
            <a:spLocks xmlns:a="http://schemas.openxmlformats.org/drawingml/2006/main" noGrp="1"/>
          </p:cNvSpPr>
          <p:nvPr/>
        </p:nvSpPr>
        <p:spPr>
          <a:xfrm xmlns:a="http://schemas.openxmlformats.org/drawingml/2006/main">
            <a:off x="5257800" y="5791200"/>
            <a:ext cx="619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536777"/>
                </a:solidFill>
                <a:latin typeface="Apple SD Gothic Neo"/>
                <a:ea typeface="Apple SD Gothic Neo"/>
                <a:cs typeface="Apple SD Gothic Neo"/>
              </a:defRPr>
            </a:pPr>
            <a:r>
              <a:rPr sz="1500" b="0">
                <a:solidFill>
                  <a:srgbClr val="536777"/>
                </a:solidFill>
                <a:latin typeface="Apple SD Gothic Neo"/>
                <a:ea typeface="Apple SD Gothic Neo"/>
                <a:cs typeface="Apple SD Gothic Neo"/>
              </a:rPr>
              <a:t>전공 요약과 다음 할 일 · 실제 데모 화면</a:t>
            </a:r>
          </a:p>
        </p:txBody>
      </p:sp>
      <p:sp>
        <p:nvSpPr>
          <p:cNvPr id="12" name="학과 절차·인물·일정은 가상 예시입니다.">
            <a:extLst xmlns:a="http://schemas.openxmlformats.org/drawingml/2006/main">
              <a:ext uri="{FF2B5EF4-FFF2-40B4-BE49-F238E27FC236}">
                <a16:creationId xmlns:a16="http://schemas.microsoft.com/office/drawing/2014/main" id="{E1A75251-20A2-4BE6-BD47-16CD4073F7C6}"/>
              </a:ext>
            </a:extLst>
          </p:cNvPr>
          <p:cNvSpPr>
            <a:spLocks xmlns:a="http://schemas.openxmlformats.org/drawingml/2006/main" noGrp="1"/>
          </p:cNvSpPr>
          <p:nvPr/>
        </p:nvSpPr>
        <p:spPr>
          <a:xfrm xmlns:a="http://schemas.openxmlformats.org/drawingml/2006/main">
            <a:off x="5257800" y="61531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학과 절차·인물·일정은 가상 예시입니다.</a:t>
            </a:r>
          </a:p>
        </p:txBody>
      </p:sp>
    </p:spTree>
    <p:extLst>
      <p:ext uri="{BB962C8B-B14F-4D97-AF65-F5344CB8AC3E}">
        <p14:creationId xmlns:p14="http://schemas.microsoft.com/office/powerpoint/2010/main" val="653059540"/>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교수와 학과 조교까지 이어지는 업무 흐름">
            <a:extLst xmlns:a="http://schemas.openxmlformats.org/drawingml/2006/main">
              <a:ext uri="{FF2B5EF4-FFF2-40B4-BE49-F238E27FC236}">
                <a16:creationId xmlns:a16="http://schemas.microsoft.com/office/drawing/2014/main" id="{0A33A956-73A5-4A59-BD19-8440B36F5212}"/>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42C40"/>
                </a:solidFill>
                <a:latin typeface="Apple SD Gothic Neo"/>
                <a:ea typeface="Apple SD Gothic Neo"/>
                <a:cs typeface="Apple SD Gothic Neo"/>
              </a:defRPr>
            </a:pPr>
            <a:r>
              <a:rPr sz="3300" b="1">
                <a:solidFill>
                  <a:srgbClr val="142C40"/>
                </a:solidFill>
                <a:latin typeface="Apple SD Gothic Neo"/>
                <a:ea typeface="Apple SD Gothic Neo"/>
                <a:cs typeface="Apple SD Gothic Neo"/>
              </a:rPr>
              <a:t>교수와 학과 조교까지 이어지는 업무 흐름</a:t>
            </a:r>
          </a:p>
        </p:txBody>
      </p:sp>
      <p:sp>
        <p:nvSpPr>
          <p:cNvPr id="2" name="05">
            <a:extLst xmlns:a="http://schemas.openxmlformats.org/drawingml/2006/main">
              <a:ext uri="{FF2B5EF4-FFF2-40B4-BE49-F238E27FC236}">
                <a16:creationId xmlns:a16="http://schemas.microsoft.com/office/drawing/2014/main" id="{BE9ACE0C-7857-48BE-BD94-1EADC4575002}"/>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05</a:t>
            </a:r>
          </a:p>
        </p:txBody>
      </p:sp>
      <p:sp>
        <p:nvSpPr>
          <p:cNvPr id="3" name="학과가 절차를 게시하고, 학생의 제출과 교수의 검토를 같은">
            <a:extLst xmlns:a="http://schemas.openxmlformats.org/drawingml/2006/main">
              <a:ext uri="{FF2B5EF4-FFF2-40B4-BE49-F238E27FC236}">
                <a16:creationId xmlns:a16="http://schemas.microsoft.com/office/drawing/2014/main" id="{7B57F324-D626-49E8-8109-2DE009EBACD5}"/>
              </a:ext>
            </a:extLst>
          </p:cNvPr>
          <p:cNvSpPr>
            <a:spLocks xmlns:a="http://schemas.openxmlformats.org/drawingml/2006/main" noGrp="1"/>
          </p:cNvSpPr>
          <p:nvPr/>
        </p:nvSpPr>
        <p:spPr>
          <a:xfrm xmlns:a="http://schemas.openxmlformats.org/drawingml/2006/main">
            <a:off x="628650" y="138112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536777"/>
                </a:solidFill>
                <a:latin typeface="Apple SD Gothic Neo"/>
                <a:ea typeface="Apple SD Gothic Neo"/>
                <a:cs typeface="Apple SD Gothic Neo"/>
              </a:defRPr>
            </a:pPr>
            <a:r>
              <a:rPr sz="2025" b="0">
                <a:solidFill>
                  <a:srgbClr val="536777"/>
                </a:solidFill>
                <a:latin typeface="Apple SD Gothic Neo"/>
                <a:ea typeface="Apple SD Gothic Neo"/>
                <a:cs typeface="Apple SD Gothic Neo"/>
              </a:rPr>
              <a:t>학과가 절차를 게시하고, 학생의 제출과 교수의 검토를 같은 진행 정보에 연결합니다.</a:t>
            </a:r>
          </a:p>
        </p:txBody>
      </p:sp>
      <p:graphicFrame>
        <p:nvGraphicFramePr>
          <p:cNvPr id="12" name=""/>
          <p:cNvGraphicFramePr/>
          <p:nvPr/>
        </p:nvGraphicFramePr>
        <p:xfrm>
          <a:off xmlns:a="http://schemas.openxmlformats.org/drawingml/2006/main" x="609600" y="2181225"/>
          <a:ext xmlns:a="http://schemas.openxmlformats.org/drawingml/2006/main" cx="10972800" cy="3362325"/>
        </p:xfrm>
        <a:graphic xmlns:a="http://schemas.openxmlformats.org/drawingml/2006/main">
          <a:graphicData uri="http://schemas.openxmlformats.org/drawingml/2006/table">
            <a:tbl>
              <a:tblPr/>
              <a:tblGrid>
                <a:gridCol w="2190750"/>
                <a:gridCol w="4762500"/>
                <a:gridCol w="4019550"/>
              </a:tblGrid>
              <a:tr h="523875">
                <a:tc>
                  <a:txBody>
                    <a:bodyPr>
                      <a:noAutofit/>
                    </a:bodyPr>
                    <a:lstStyle/>
                    <a:p>
                      <a:r>
                        <a:rPr sz="1725" b="1">
                          <a:solidFill>
                            <a:srgbClr val="FFFFFF"/>
                          </a:solidFill>
                          <a:latin typeface="Apple SD Gothic Neo"/>
                          <a:ea typeface="Apple SD Gothic Neo"/>
                          <a:cs typeface="Apple SD Gothic Neo"/>
                        </a:rPr>
                        <a:t>역할</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현재 구현된 기능</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연결되는 정보</a:t>
                      </a:r>
                    </a:p>
                  </a:txBody>
                  <a:tcPr marL="190500" marR="171450" marT="123825" marB="114300" anchor="ctr">
                    <a:solidFill>
                      <a:srgbClr val="142C40"/>
                    </a:solidFill>
                  </a:tcPr>
                </a:tc>
              </a:tr>
              <a:tr h="895350">
                <a:tc>
                  <a:txBody>
                    <a:bodyPr>
                      <a:noAutofit/>
                    </a:bodyPr>
                    <a:lstStyle/>
                    <a:p>
                      <a:r>
                        <a:rPr sz="1875" b="1">
                          <a:solidFill>
                            <a:srgbClr val="142C40"/>
                          </a:solidFill>
                          <a:latin typeface="Apple SD Gothic Neo"/>
                          <a:ea typeface="Apple SD Gothic Neo"/>
                          <a:cs typeface="Apple SD Gothic Neo"/>
                        </a:rPr>
                        <a:t>학생</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지도 신청·계획서·최종논문 제출</a:t>
                      </a:r>
                    </a:p>
                    <a:p>
                      <a:r>
                        <a:rPr sz="1875" b="0">
                          <a:solidFill>
                            <a:srgbClr val="142C40"/>
                          </a:solidFill>
                          <a:latin typeface="Apple SD Gothic Neo"/>
                          <a:ea typeface="Apple SD Gothic Neo"/>
                          <a:cs typeface="Apple SD Gothic Neo"/>
                        </a:rPr>
                        <a:t>제안받은 면담 시간 선택</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제출 상태와 피드백 확인</a:t>
                      </a:r>
                    </a:p>
                    <a:p>
                      <a:r>
                        <a:rPr sz="1875" b="0">
                          <a:solidFill>
                            <a:srgbClr val="142C40"/>
                          </a:solidFill>
                          <a:latin typeface="Apple SD Gothic Neo"/>
                          <a:ea typeface="Apple SD Gothic Neo"/>
                          <a:cs typeface="Apple SD Gothic Neo"/>
                        </a:rPr>
                        <a:t>자신의 다음 단계 진행</a:t>
                      </a:r>
                    </a:p>
                  </a:txBody>
                  <a:tcPr marL="190500" marR="171450" marT="123825" marB="114300" anchor="ctr">
                    <a:solidFill>
                      <a:srgbClr val="FFFFFF"/>
                    </a:solidFill>
                  </a:tcPr>
                </a:tc>
              </a:tr>
              <a:tr h="895350">
                <a:tc>
                  <a:txBody>
                    <a:bodyPr>
                      <a:noAutofit/>
                    </a:bodyPr>
                    <a:lstStyle/>
                    <a:p>
                      <a:r>
                        <a:rPr sz="1875" b="1">
                          <a:solidFill>
                            <a:srgbClr val="142C40"/>
                          </a:solidFill>
                          <a:latin typeface="Apple SD Gothic Neo"/>
                          <a:ea typeface="Apple SD Gothic Neo"/>
                          <a:cs typeface="Apple SD Gothic Neo"/>
                        </a:rPr>
                        <a:t>교수</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신청과 제출물 검토·승인·수정 요청</a:t>
                      </a:r>
                    </a:p>
                    <a:p>
                      <a:r>
                        <a:rPr sz="1875" b="0">
                          <a:solidFill>
                            <a:srgbClr val="142C40"/>
                          </a:solidFill>
                          <a:latin typeface="Apple SD Gothic Neo"/>
                          <a:ea typeface="Apple SD Gothic Neo"/>
                          <a:cs typeface="Apple SD Gothic Neo"/>
                        </a:rPr>
                        <a:t>면담 시간 제안 및 지도 정원 관리</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검토 결과와 보완 의견 전달</a:t>
                      </a:r>
                    </a:p>
                    <a:p>
                      <a:r>
                        <a:rPr sz="1875" b="0">
                          <a:solidFill>
                            <a:srgbClr val="142C40"/>
                          </a:solidFill>
                          <a:latin typeface="Apple SD Gothic Neo"/>
                          <a:ea typeface="Apple SD Gothic Neo"/>
                          <a:cs typeface="Apple SD Gothic Neo"/>
                        </a:rPr>
                        <a:t>승인 인원과 남은 자리 반영</a:t>
                      </a:r>
                    </a:p>
                  </a:txBody>
                  <a:tcPr marL="190500" marR="171450" marT="123825" marB="114300" anchor="ctr">
                    <a:solidFill>
                      <a:srgbClr val="EAF0ED"/>
                    </a:solidFill>
                  </a:tcPr>
                </a:tc>
              </a:tr>
              <a:tr h="1047750">
                <a:tc>
                  <a:txBody>
                    <a:bodyPr>
                      <a:noAutofit/>
                    </a:bodyPr>
                    <a:lstStyle/>
                    <a:p>
                      <a:r>
                        <a:rPr sz="1875" b="1">
                          <a:solidFill>
                            <a:srgbClr val="142C40"/>
                          </a:solidFill>
                          <a:latin typeface="Apple SD Gothic Neo"/>
                          <a:ea typeface="Apple SD Gothic Neo"/>
                          <a:cs typeface="Apple SD Gothic Neo"/>
                        </a:rPr>
                        <a:t>학과 조교</a:t>
                      </a:r>
                    </a:p>
                    <a:p>
                      <a:r>
                        <a:rPr sz="1875" b="1">
                          <a:solidFill>
                            <a:srgbClr val="142C40"/>
                          </a:solidFill>
                          <a:latin typeface="Apple SD Gothic Neo"/>
                          <a:ea typeface="Apple SD Gothic Neo"/>
                          <a:cs typeface="Apple SD Gothic Neo"/>
                        </a:rPr>
                        <a:t>(행정 역할)</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학과별 단계·마감·서식 편집 및 게시</a:t>
                      </a:r>
                    </a:p>
                    <a:p>
                      <a:r>
                        <a:rPr sz="1875" b="0">
                          <a:solidFill>
                            <a:srgbClr val="142C40"/>
                          </a:solidFill>
                          <a:latin typeface="Apple SD Gothic Neo"/>
                          <a:ea typeface="Apple SD Gothic Neo"/>
                          <a:cs typeface="Apple SD Gothic Neo"/>
                        </a:rPr>
                        <a:t>대상별 공지 작성·학생 진행 현황 조회</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게시한 절차를 로드맵에 반영</a:t>
                      </a:r>
                    </a:p>
                    <a:p>
                      <a:r>
                        <a:rPr sz="1875" b="0">
                          <a:solidFill>
                            <a:srgbClr val="142C40"/>
                          </a:solidFill>
                          <a:latin typeface="Apple SD Gothic Neo"/>
                          <a:ea typeface="Apple SD Gothic Neo"/>
                          <a:cs typeface="Apple SD Gothic Neo"/>
                        </a:rPr>
                        <a:t>주전공·복수전공에 맞는 공지 제공</a:t>
                      </a:r>
                    </a:p>
                  </a:txBody>
                  <a:tcPr marL="190500" marR="171450" marT="123825" marB="114300" anchor="ctr">
                    <a:solidFill>
                      <a:srgbClr val="FFFFFF"/>
                    </a:solidFill>
                  </a:tcPr>
                </a:tc>
              </a:tr>
            </a:tbl>
          </a:graphicData>
        </a:graphic>
      </p:graphicFrame>
      <p:sp>
        <p:nvSpPr>
          <p:cNvPr id="5" name="목표: 공지를 찾아 헤매는 시간을 줄이고, 지금 해야 할 ">
            <a:extLst xmlns:a="http://schemas.openxmlformats.org/drawingml/2006/main">
              <a:ext uri="{FF2B5EF4-FFF2-40B4-BE49-F238E27FC236}">
                <a16:creationId xmlns:a16="http://schemas.microsoft.com/office/drawing/2014/main" id="{625D2BFC-740A-4029-B692-B4EF7CC7EF2B}"/>
              </a:ext>
            </a:extLst>
          </p:cNvPr>
          <p:cNvSpPr>
            <a:spLocks xmlns:a="http://schemas.openxmlformats.org/drawingml/2006/main" noGrp="1"/>
          </p:cNvSpPr>
          <p:nvPr/>
        </p:nvSpPr>
        <p:spPr>
          <a:xfrm xmlns:a="http://schemas.openxmlformats.org/drawingml/2006/main">
            <a:off x="628650" y="5838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목표: 공지를 찾아 헤매는 시간을 줄이고, 지금 해야 할 일을 분명하게</a:t>
            </a:r>
          </a:p>
        </p:txBody>
      </p:sp>
      <p:sp>
        <p:nvSpPr>
          <p:cNvPr id="6" name="현재는 가상 데이터 기반 브라우저 데모이며, 실제 학사 시">
            <a:extLst xmlns:a="http://schemas.openxmlformats.org/drawingml/2006/main">
              <a:ext uri="{FF2B5EF4-FFF2-40B4-BE49-F238E27FC236}">
                <a16:creationId xmlns:a16="http://schemas.microsoft.com/office/drawing/2014/main" id="{DBD63DBE-B4C7-429C-848C-75B7D3A69862}"/>
              </a:ext>
            </a:extLst>
          </p:cNvPr>
          <p:cNvSpPr>
            <a:spLocks xmlns:a="http://schemas.openxmlformats.org/drawingml/2006/main" noGrp="1"/>
          </p:cNvSpPr>
          <p:nvPr/>
        </p:nvSpPr>
        <p:spPr>
          <a:xfrm xmlns:a="http://schemas.openxmlformats.org/drawingml/2006/main">
            <a:off x="628650" y="63341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현재는 가상 데이터 기반 브라우저 데모이며, 실제 학사 시스템 연동은 후속 과제입니다.</a:t>
            </a:r>
          </a:p>
        </p:txBody>
      </p:sp>
    </p:spTree>
    <p:extLst>
      <p:ext uri="{BB962C8B-B14F-4D97-AF65-F5344CB8AC3E}">
        <p14:creationId xmlns:p14="http://schemas.microsoft.com/office/powerpoint/2010/main" val="1237896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2026-09-22T00:11:14.1450000Z</dcterms:created>
  <dcterms:modified xsi:type="dcterms:W3CDTF">2026-09-22T00:11:14.1450000Z</dcterms:modified>
</coreProperties>
</file>