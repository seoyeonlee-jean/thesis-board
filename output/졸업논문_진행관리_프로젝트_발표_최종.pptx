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0a3b86cd5c409b" /><Relationship Type="http://schemas.openxmlformats.org/officeDocument/2006/relationships/extended-properties" Target="/docProps/app.xml" Id="R60aedcd528ce4951" /><Relationship Type="http://schemas.openxmlformats.org/officeDocument/2006/relationships/officeDocument" Target="/ppt/presentation.xml" Id="R27ae8bcb824941e5" /></Relationships>
</file>

<file path=ppt/presentation.xml><?xml version="1.0" encoding="utf-8"?>
<p:presentation xmlns:p="http://schemas.openxmlformats.org/presentationml/2006/main">
  <p:sldMasterIdLst>
    <p:sldMasterId xmlns:r="http://schemas.openxmlformats.org/officeDocument/2006/relationships" id="2147483648" r:id="R22ef6c88d1554fc0"/>
  </p:sldMasterIdLst>
  <p:notesMasterIdLst>
    <p:notesMasterId xmlns:r="http://schemas.openxmlformats.org/officeDocument/2006/relationships" r:id="Rd991fa4f24584fa1"/>
  </p:notesMasterIdLst>
  <p:sldIdLst>
    <p:sldId xmlns:r="http://schemas.openxmlformats.org/officeDocument/2006/relationships" id="256" r:id="R749dafc9283249f4"/>
    <p:sldId xmlns:r="http://schemas.openxmlformats.org/officeDocument/2006/relationships" id="257" r:id="Rb091d6f090a64167"/>
    <p:sldId xmlns:r="http://schemas.openxmlformats.org/officeDocument/2006/relationships" id="258" r:id="Rd94f976ac881410b"/>
    <p:sldId xmlns:r="http://schemas.openxmlformats.org/officeDocument/2006/relationships" id="259" r:id="Rb87236fe89944c79"/>
    <p:sldId xmlns:r="http://schemas.openxmlformats.org/officeDocument/2006/relationships" id="260" r:id="R61e5bbe5355f47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38b64c8ec24fe2" /><Relationship Type="http://schemas.openxmlformats.org/officeDocument/2006/relationships/slideMaster" Target="/ppt/slideMasters/slideMaster1.xml" Id="R22ef6c88d1554fc0" /><Relationship Type="http://schemas.openxmlformats.org/officeDocument/2006/relationships/notesMaster" Target="/ppt/notesMasters/notesMaster1.xml" Id="Rd991fa4f24584fa1" /><Relationship Type="http://schemas.openxmlformats.org/officeDocument/2006/relationships/presProps" Target="/ppt/presProps.xml" Id="Rb98fd0602435496e" /><Relationship Type="http://schemas.openxmlformats.org/officeDocument/2006/relationships/tableStyles" Target="/ppt/tableStyles.xml" Id="R825e428eb8f5443e" /><Relationship Type="http://schemas.openxmlformats.org/officeDocument/2006/relationships/slide" Target="/ppt/slides/slide1.xml" Id="R749dafc9283249f4" /><Relationship Type="http://schemas.openxmlformats.org/officeDocument/2006/relationships/slide" Target="/ppt/slides/slide2.xml" Id="Rb091d6f090a64167" /><Relationship Type="http://schemas.openxmlformats.org/officeDocument/2006/relationships/slide" Target="/ppt/slides/slide3.xml" Id="Rd94f976ac881410b" /><Relationship Type="http://schemas.openxmlformats.org/officeDocument/2006/relationships/slide" Target="/ppt/slides/slide4.xml" Id="Rb87236fe89944c79" /><Relationship Type="http://schemas.openxmlformats.org/officeDocument/2006/relationships/slide" Target="/ppt/slides/slide5.xml" Id="R61e5bbe5355f47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49be6e5d5146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f2df3f92b14c58" /><Relationship Type="http://schemas.openxmlformats.org/officeDocument/2006/relationships/notesMaster" Target="/ppt/notesMasters/notesMaster1.xml" Id="R6550590924274f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05d61bb2324189" /><Relationship Type="http://schemas.openxmlformats.org/officeDocument/2006/relationships/notesMaster" Target="/ppt/notesMasters/notesMaster1.xml" Id="R5ce9ca872c384c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6d9717f0804578" /><Relationship Type="http://schemas.openxmlformats.org/officeDocument/2006/relationships/notesMaster" Target="/ppt/notesMasters/notesMaster1.xml" Id="R62ccbb2ec18940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a86fa6d3544311" /><Relationship Type="http://schemas.openxmlformats.org/officeDocument/2006/relationships/notesMaster" Target="/ppt/notesMasters/notesMaster1.xml" Id="Rb245ac96804d4a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da4b7b496744d5" /><Relationship Type="http://schemas.openxmlformats.org/officeDocument/2006/relationships/notesMaster" Target="/ppt/notesMasters/notesMaster1.xml" Id="R9be647c75d6149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흐름: 대학생이라는 신분을 핸디캡으로 보기보다, 문제를 직접 경험하고 동료에게 검증할 수 있다는 강점을 살리고 싶었습니다. 모든 학생에게 공통인 졸업요건 확인 과정 중 졸업논문 절차의 불편을 선택했습니다. 논문 작성 자체는 모든 학부생에게 일률적으로 필수가 아니며 학과와 전공 유형에 따라 달라집니다.</a:t>
            </a:r>
          </a:p>
          <a:p xmlns:a="http://schemas.openxmlformats.org/drawingml/2006/main">
            <a:r>
              <a:t>출처: 사용자가 제공한 기획 의도 및 AGENTS.md의 전공별 필수·면제 요건.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가지 유형은 사용자가 설명한 절차 차이를 정리한 예시이며, 특정 학과의 현행 공식 규정을 검증한 표가 아닙니다. 유형은 서로 결합될 수 있습니다. 실제 구현은 학과별 데이터에 단계와 제출 방법을 저장하고, 신청·승인형 및 수업형에 따라 동작을 구분합니다.</a:t>
            </a:r>
          </a:p>
          <a:p xmlns:a="http://schemas.openxmlformats.org/drawingml/2006/main">
            <a:r>
              <a:t>출처: 사용자 메시지, data/departments/*.ts, lib/types.ts.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핵심은 학과 하나의 절차가 복잡하다는 점만이 아닙니다. 다전공생에게는 서로 다른 절차와 공지 채널이 동시에 겹칩니다. 복수전공 학과에 아는 사람이 적으면 학생 익명 커뮤니티에서 정보를 구하게 되고, 답변의 최신성이나 적용 범위를 스스로 재확인해야 합니다.</a:t>
            </a:r>
          </a:p>
          <a:p xmlns:a="http://schemas.openxmlformats.org/drawingml/2006/main">
            <a:r>
              <a:t>출처: 사용자가 제공한 서울대학교 다전공생의 경험과 현장 관찰. 다전공생 비율에 관한 공식 통계는 제공되지 않았으므로 특정 비율이나 과반이라는 수치 주장은 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학생은 전공별 요약과 탭을 통해 각각의 로드맵을 확인합니다. 현재 구현의 다음 할 일은 선택한 전공을 기준으로 표시합니다. 통합 캘린더는 모든 전공의 마감, 확정 면담, 공지 일정을 합쳐 보여주며 월간·타임라인 전환과 전공별 필터를 지원합니다. 신청서와 제출물은 임시저장, 제출 및 수정 요청에 따른 재제출을 지원합니다. 스크린샷은 이 프로젝트를 로컬에서 실행해 캡처했습니다.</a:t>
            </a:r>
          </a:p>
          <a:p xmlns:a="http://schemas.openxmlformats.org/drawingml/2006/main">
            <a:r>
              <a:t>출처: components/student-board.tsx, components/calendar.tsx, components/roadmap.tsx, components/meeting-grid.tsx, data/seed.ts.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학과 조교는 단계 추가·삭제·순서 변경과 대상, 제출처, 서식을 편집하고 학생 로드맵을 미리 본 뒤 게시할 수 있습니다. 교수는 신청·연구계획서·최종논문을 검토하고 수정 요청의 이유를 남기며 면담 시간을 제안할 수 있습니다. 피드백과 알림은 학생 화면에 연결됩니다. 정원이 찬 경우 신청·승인을 제한합니다. 이는 현재 작업 트리의 구현 기준이며 오래된 README 및 초기 화면 초안과 일부 다릅니다. 기대 효과는 사용자 검증 전의 목표입니다.</a:t>
            </a:r>
          </a:p>
          <a:p xmlns:a="http://schemas.openxmlformats.org/drawingml/2006/main">
            <a:r>
              <a:t>구현 범위: Next.js, TypeScript, Tailwind CSS, Zustand persist(localStorage). 서버 DB나 외부 API 없이 동일 브라우저 안에서 역할 전환으로 시연합니다.</a:t>
            </a:r>
          </a:p>
          <a:p xmlns:a="http://schemas.openxmlformats.org/drawingml/2006/main">
            <a:r>
              <a:t>출처: components/professor-board.tsx, components/admin-board.tsx, lib/store.ts, lib/rules.ts, lib/types.ts.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16a7b244cd4e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d65f6873024462" /><Relationship Type="http://schemas.openxmlformats.org/officeDocument/2006/relationships/slideLayout" Target="/ppt/slideLayouts/slideLayout1.xml" Id="Raeafaaabbb5a4b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afaaabbb5a4b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050b4911ca4f9f" /><Relationship Type="http://schemas.openxmlformats.org/officeDocument/2006/relationships/notesSlide" Target="/ppt/notesSlides/notesSlide1.xml" Id="Ref03c35682c54a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964d5de8b74272" /><Relationship Type="http://schemas.openxmlformats.org/officeDocument/2006/relationships/notesSlide" Target="/ppt/notesSlides/notesSlide2.xml" Id="Raf18732131c84d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47e2c1db7b417b" /><Relationship Type="http://schemas.openxmlformats.org/officeDocument/2006/relationships/notesSlide" Target="/ppt/notesSlides/notesSlide3.xml" Id="Rdb1d4766600f4e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66228eb4b24c4e" /><Relationship Type="http://schemas.openxmlformats.org/officeDocument/2006/relationships/image" Target="/ppt/media/image.png" Id="Rfaa50a1813d84290" /><Relationship Type="http://schemas.openxmlformats.org/officeDocument/2006/relationships/notesSlide" Target="/ppt/notesSlides/notesSlide4.xml" Id="Rc9b325a578ae4c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80ad503bff430f" /><Relationship Type="http://schemas.openxmlformats.org/officeDocument/2006/relationships/notesSlide" Target="/ppt/notesSlides/notesSlide5.xml" Id="Rdeba0abe8013469c" /></Relationships>
</file>

<file path=ppt/slides/slide1.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10" name="졸업논문 진행 관리 보드">
            <a:extLst xmlns:a="http://schemas.openxmlformats.org/drawingml/2006/main">
              <a:ext uri="{FF2B5EF4-FFF2-40B4-BE49-F238E27FC236}">
                <a16:creationId xmlns:a16="http://schemas.microsoft.com/office/drawing/2014/main" id="{8660D116-8DAB-49A1-AE90-1D394277E402}"/>
              </a:ext>
            </a:extLst>
          </p:cNvPr>
          <p:cNvSpPr>
            <a:spLocks xmlns:a="http://schemas.openxmlformats.org/drawingml/2006/main" noGrp="1"/>
          </p:cNvSpPr>
          <p:nvPr/>
        </p:nvSpPr>
        <p:spPr>
          <a:xfrm xmlns:a="http://schemas.openxmlformats.org/drawingml/2006/main">
            <a:off x="609600" y="4953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142C40"/>
                </a:solidFill>
                <a:latin typeface="Apple SD Gothic Neo"/>
                <a:ea typeface="Apple SD Gothic Neo"/>
                <a:cs typeface="Apple SD Gothic Neo"/>
              </a:defRPr>
            </a:pPr>
            <a:r>
              <a:rPr sz="4275" b="1">
                <a:solidFill>
                  <a:srgbClr val="142C40"/>
                </a:solidFill>
                <a:latin typeface="Apple SD Gothic Neo"/>
                <a:ea typeface="Apple SD Gothic Neo"/>
                <a:cs typeface="Apple SD Gothic Neo"/>
              </a:rPr>
              <a:t>졸업논문 진행 관리 보드</a:t>
            </a:r>
          </a:p>
        </p:txBody>
      </p:sp>
      <p:sp>
        <p:nvSpPr>
          <p:cNvPr id="2" name="01">
            <a:extLst xmlns:a="http://schemas.openxmlformats.org/drawingml/2006/main">
              <a:ext uri="{FF2B5EF4-FFF2-40B4-BE49-F238E27FC236}">
                <a16:creationId xmlns:a16="http://schemas.microsoft.com/office/drawing/2014/main" id="{367FAE63-62E0-44DE-85D0-F31E52F2EB72}"/>
              </a:ext>
            </a:extLst>
          </p:cNvPr>
          <p:cNvSpPr>
            <a:spLocks xmlns:a="http://schemas.openxmlformats.org/drawingml/2006/main" noGrp="1"/>
          </p:cNvSpPr>
          <p:nvPr/>
        </p:nvSpPr>
        <p:spPr>
          <a:xfrm xmlns:a="http://schemas.openxmlformats.org/drawingml/2006/main">
            <a:off x="11163300" y="62674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01</a:t>
            </a:r>
          </a:p>
        </p:txBody>
      </p:sp>
      <p:sp>
        <p:nvSpPr>
          <p:cNvPr id="3" name="학생의 경험에서 출발한 다전공 졸업 절차 관리">
            <a:extLst xmlns:a="http://schemas.openxmlformats.org/drawingml/2006/main">
              <a:ext uri="{FF2B5EF4-FFF2-40B4-BE49-F238E27FC236}">
                <a16:creationId xmlns:a16="http://schemas.microsoft.com/office/drawing/2014/main" id="{1EBF052A-D0D5-48F2-BAB7-FCDF0EE670D6}"/>
              </a:ext>
            </a:extLst>
          </p:cNvPr>
          <p:cNvSpPr>
            <a:spLocks xmlns:a="http://schemas.openxmlformats.org/drawingml/2006/main" noGrp="1"/>
          </p:cNvSpPr>
          <p:nvPr/>
        </p:nvSpPr>
        <p:spPr>
          <a:xfrm xmlns:a="http://schemas.openxmlformats.org/drawingml/2006/main">
            <a:off x="628650" y="13239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536777"/>
                </a:solidFill>
                <a:latin typeface="Apple SD Gothic Neo"/>
                <a:ea typeface="Apple SD Gothic Neo"/>
                <a:cs typeface="Apple SD Gothic Neo"/>
              </a:defRPr>
            </a:pPr>
            <a:r>
              <a:rPr sz="2100" b="0">
                <a:solidFill>
                  <a:srgbClr val="536777"/>
                </a:solidFill>
                <a:latin typeface="Apple SD Gothic Neo"/>
                <a:ea typeface="Apple SD Gothic Neo"/>
                <a:cs typeface="Apple SD Gothic Neo"/>
              </a:rPr>
              <a:t>학생의 경험에서 출발한 다전공 졸업 절차 관리</a:t>
            </a:r>
          </a:p>
        </p:txBody>
      </p:sp>
      <p:sp>
        <p:nvSpPr>
          <p:cNvPr id="4" name="대학생이라는 신분을&#10;문제 발견의 강점으로">
            <a:extLst xmlns:a="http://schemas.openxmlformats.org/drawingml/2006/main">
              <a:ext uri="{FF2B5EF4-FFF2-40B4-BE49-F238E27FC236}">
                <a16:creationId xmlns:a16="http://schemas.microsoft.com/office/drawing/2014/main" id="{09937852-0454-4359-9027-0C20D08FCD39}"/>
              </a:ext>
            </a:extLst>
          </p:cNvPr>
          <p:cNvSpPr>
            <a:spLocks xmlns:a="http://schemas.openxmlformats.org/drawingml/2006/main" noGrp="1"/>
          </p:cNvSpPr>
          <p:nvPr/>
        </p:nvSpPr>
        <p:spPr>
          <a:xfrm xmlns:a="http://schemas.openxmlformats.org/drawingml/2006/main">
            <a:off x="609600" y="2381250"/>
            <a:ext cx="6096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007E82"/>
                </a:solidFill>
                <a:latin typeface="Apple SD Gothic Neo"/>
                <a:ea typeface="Apple SD Gothic Neo"/>
                <a:cs typeface="Apple SD Gothic Neo"/>
              </a:defRPr>
            </a:pPr>
            <a:r>
              <a:rPr sz="3600" b="1">
                <a:solidFill>
                  <a:srgbClr val="007E82"/>
                </a:solidFill>
                <a:latin typeface="Apple SD Gothic Neo"/>
                <a:ea typeface="Apple SD Gothic Neo"/>
                <a:cs typeface="Apple SD Gothic Neo"/>
              </a:rPr>
              <a:t>대학생이라는 신분을</a:t>
            </a:r>
          </a:p>
          <a:p xmlns:a="http://schemas.openxmlformats.org/drawingml/2006/main">
            <a:pPr>
              <a:defRPr sz="3600" b="1">
                <a:solidFill>
                  <a:srgbClr val="007E82"/>
                </a:solidFill>
                <a:latin typeface="Apple SD Gothic Neo"/>
                <a:ea typeface="Apple SD Gothic Neo"/>
                <a:cs typeface="Apple SD Gothic Neo"/>
              </a:defRPr>
            </a:pPr>
            <a:r>
              <a:rPr sz="3600" b="1">
                <a:solidFill>
                  <a:srgbClr val="007E82"/>
                </a:solidFill>
                <a:latin typeface="Apple SD Gothic Neo"/>
                <a:ea typeface="Apple SD Gothic Neo"/>
                <a:cs typeface="Apple SD Gothic Neo"/>
              </a:rPr>
              <a:t>문제 발견의 강점으로</a:t>
            </a:r>
          </a:p>
        </p:txBody>
      </p:sp>
      <p:sp>
        <p:nvSpPr>
          <p:cNvPr id="5" name="직접 겪는 불편을 가까이에서 관찰하고,&#10;주변 학생에게 실제">
            <a:extLst xmlns:a="http://schemas.openxmlformats.org/drawingml/2006/main">
              <a:ext uri="{FF2B5EF4-FFF2-40B4-BE49-F238E27FC236}">
                <a16:creationId xmlns:a16="http://schemas.microsoft.com/office/drawing/2014/main" id="{B72AF2A6-1047-4056-A1BE-B3D11F2F9667}"/>
              </a:ext>
            </a:extLst>
          </p:cNvPr>
          <p:cNvSpPr>
            <a:spLocks xmlns:a="http://schemas.openxmlformats.org/drawingml/2006/main" noGrp="1"/>
          </p:cNvSpPr>
          <p:nvPr/>
        </p:nvSpPr>
        <p:spPr>
          <a:xfrm xmlns:a="http://schemas.openxmlformats.org/drawingml/2006/main">
            <a:off x="628650" y="4143375"/>
            <a:ext cx="600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42C40"/>
                </a:solidFill>
                <a:latin typeface="Apple SD Gothic Neo"/>
                <a:ea typeface="Apple SD Gothic Neo"/>
                <a:cs typeface="Apple SD Gothic Neo"/>
              </a:defRPr>
            </a:pPr>
            <a:r>
              <a:rPr sz="2025" b="0">
                <a:solidFill>
                  <a:srgbClr val="142C40"/>
                </a:solidFill>
                <a:latin typeface="Apple SD Gothic Neo"/>
                <a:ea typeface="Apple SD Gothic Neo"/>
                <a:cs typeface="Apple SD Gothic Neo"/>
              </a:rPr>
              <a:t>직접 겪는 불편을 가까이에서 관찰하고,</a:t>
            </a:r>
          </a:p>
          <a:p xmlns:a="http://schemas.openxmlformats.org/drawingml/2006/main">
            <a:pPr>
              <a:defRPr sz="2025" b="0">
                <a:solidFill>
                  <a:srgbClr val="142C40"/>
                </a:solidFill>
                <a:latin typeface="Apple SD Gothic Neo"/>
                <a:ea typeface="Apple SD Gothic Neo"/>
                <a:cs typeface="Apple SD Gothic Neo"/>
              </a:defRPr>
            </a:pPr>
            <a:r>
              <a:rPr sz="2025" b="0">
                <a:solidFill>
                  <a:srgbClr val="142C40"/>
                </a:solidFill>
                <a:latin typeface="Apple SD Gothic Neo"/>
                <a:ea typeface="Apple SD Gothic Neo"/>
                <a:cs typeface="Apple SD Gothic Neo"/>
              </a:rPr>
              <a:t>주변 학생에게 실제로 필요한지 확인할 수 있다.</a:t>
            </a:r>
          </a:p>
        </p:txBody>
      </p:sp>
      <p:sp>
        <p:nvSpPr>
          <p:cNvPr id="6" name="선택한 문제">
            <a:extLst xmlns:a="http://schemas.openxmlformats.org/drawingml/2006/main">
              <a:ext uri="{FF2B5EF4-FFF2-40B4-BE49-F238E27FC236}">
                <a16:creationId xmlns:a16="http://schemas.microsoft.com/office/drawing/2014/main" id="{903735FB-59A6-4BEB-8CC5-1EF49E8EF106}"/>
              </a:ext>
            </a:extLst>
          </p:cNvPr>
          <p:cNvSpPr>
            <a:spLocks xmlns:a="http://schemas.openxmlformats.org/drawingml/2006/main" noGrp="1"/>
          </p:cNvSpPr>
          <p:nvPr/>
        </p:nvSpPr>
        <p:spPr>
          <a:xfrm xmlns:a="http://schemas.openxmlformats.org/drawingml/2006/main">
            <a:off x="7486650" y="2447925"/>
            <a:ext cx="394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82"/>
                </a:solidFill>
                <a:latin typeface="Apple SD Gothic Neo"/>
                <a:ea typeface="Apple SD Gothic Neo"/>
                <a:cs typeface="Apple SD Gothic Neo"/>
              </a:defRPr>
            </a:pPr>
            <a:r>
              <a:rPr sz="1875" b="1">
                <a:solidFill>
                  <a:srgbClr val="007E82"/>
                </a:solidFill>
                <a:latin typeface="Apple SD Gothic Neo"/>
                <a:ea typeface="Apple SD Gothic Neo"/>
                <a:cs typeface="Apple SD Gothic Neo"/>
              </a:rPr>
              <a:t>선택한 문제</a:t>
            </a:r>
          </a:p>
        </p:txBody>
      </p:sp>
      <p:sp>
        <p:nvSpPr>
          <p:cNvPr id="7" name="누구나 확인해야 하는 졸업요건,&#10;그중 학과마다 다른 졸업논">
            <a:extLst xmlns:a="http://schemas.openxmlformats.org/drawingml/2006/main">
              <a:ext uri="{FF2B5EF4-FFF2-40B4-BE49-F238E27FC236}">
                <a16:creationId xmlns:a16="http://schemas.microsoft.com/office/drawing/2014/main" id="{4BE50110-D1F8-4934-A895-0D9B04CD499D}"/>
              </a:ext>
            </a:extLst>
          </p:cNvPr>
          <p:cNvSpPr>
            <a:spLocks xmlns:a="http://schemas.openxmlformats.org/drawingml/2006/main" noGrp="1"/>
          </p:cNvSpPr>
          <p:nvPr/>
        </p:nvSpPr>
        <p:spPr>
          <a:xfrm xmlns:a="http://schemas.openxmlformats.org/drawingml/2006/main">
            <a:off x="7486650" y="2971800"/>
            <a:ext cx="40576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42C40"/>
                </a:solidFill>
                <a:latin typeface="Apple SD Gothic Neo"/>
                <a:ea typeface="Apple SD Gothic Neo"/>
                <a:cs typeface="Apple SD Gothic Neo"/>
              </a:defRPr>
            </a:pPr>
            <a:r>
              <a:rPr sz="2175" b="1">
                <a:solidFill>
                  <a:srgbClr val="142C40"/>
                </a:solidFill>
                <a:latin typeface="Apple SD Gothic Neo"/>
                <a:ea typeface="Apple SD Gothic Neo"/>
                <a:cs typeface="Apple SD Gothic Neo"/>
              </a:rPr>
              <a:t>누구나 확인해야 하는 졸업요건,</a:t>
            </a:r>
          </a:p>
          <a:p xmlns:a="http://schemas.openxmlformats.org/drawingml/2006/main">
            <a:pPr>
              <a:defRPr sz="2175" b="1">
                <a:solidFill>
                  <a:srgbClr val="142C40"/>
                </a:solidFill>
                <a:latin typeface="Apple SD Gothic Neo"/>
                <a:ea typeface="Apple SD Gothic Neo"/>
                <a:cs typeface="Apple SD Gothic Neo"/>
              </a:defRPr>
            </a:pPr>
            <a:r>
              <a:rPr sz="2175" b="1">
                <a:solidFill>
                  <a:srgbClr val="142C40"/>
                </a:solidFill>
                <a:latin typeface="Apple SD Gothic Neo"/>
                <a:ea typeface="Apple SD Gothic Neo"/>
                <a:cs typeface="Apple SD Gothic Neo"/>
              </a:rPr>
              <a:t>그중 학과마다 다른 졸업논문 절차에</a:t>
            </a:r>
          </a:p>
          <a:p xmlns:a="http://schemas.openxmlformats.org/drawingml/2006/main">
            <a:pPr>
              <a:defRPr sz="2175" b="1">
                <a:solidFill>
                  <a:srgbClr val="142C40"/>
                </a:solidFill>
                <a:latin typeface="Apple SD Gothic Neo"/>
                <a:ea typeface="Apple SD Gothic Neo"/>
                <a:cs typeface="Apple SD Gothic Neo"/>
              </a:defRPr>
            </a:pPr>
            <a:r>
              <a:rPr sz="2175" b="1">
                <a:solidFill>
                  <a:srgbClr val="142C40"/>
                </a:solidFill>
                <a:latin typeface="Apple SD Gothic Neo"/>
                <a:ea typeface="Apple SD Gothic Neo"/>
                <a:cs typeface="Apple SD Gothic Neo"/>
              </a:rPr>
              <a:t>주목했습니다.</a:t>
            </a:r>
          </a:p>
        </p:txBody>
      </p:sp>
      <p:sp>
        <p:nvSpPr>
          <p:cNvPr id="8" name="논문 대상 학생이 자신의 절차와&#10;다음 마감을 놓치지 않도록">
            <a:extLst xmlns:a="http://schemas.openxmlformats.org/drawingml/2006/main">
              <a:ext uri="{FF2B5EF4-FFF2-40B4-BE49-F238E27FC236}">
                <a16:creationId xmlns:a16="http://schemas.microsoft.com/office/drawing/2014/main" id="{184903EA-BBC3-4A6C-9C62-4473D27B38CD}"/>
              </a:ext>
            </a:extLst>
          </p:cNvPr>
          <p:cNvSpPr>
            <a:spLocks xmlns:a="http://schemas.openxmlformats.org/drawingml/2006/main" noGrp="1"/>
          </p:cNvSpPr>
          <p:nvPr/>
        </p:nvSpPr>
        <p:spPr>
          <a:xfrm xmlns:a="http://schemas.openxmlformats.org/drawingml/2006/main">
            <a:off x="7486650" y="4695825"/>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36777"/>
                </a:solidFill>
                <a:latin typeface="Apple SD Gothic Neo"/>
                <a:ea typeface="Apple SD Gothic Neo"/>
                <a:cs typeface="Apple SD Gothic Neo"/>
              </a:defRPr>
            </a:pPr>
            <a:r>
              <a:rPr sz="1950" b="0">
                <a:solidFill>
                  <a:srgbClr val="536777"/>
                </a:solidFill>
                <a:latin typeface="Apple SD Gothic Neo"/>
                <a:ea typeface="Apple SD Gothic Neo"/>
                <a:cs typeface="Apple SD Gothic Neo"/>
              </a:rPr>
              <a:t>논문 대상 학생이 자신의 절차와</a:t>
            </a:r>
          </a:p>
          <a:p xmlns:a="http://schemas.openxmlformats.org/drawingml/2006/main">
            <a:pPr>
              <a:defRPr sz="1950" b="0">
                <a:solidFill>
                  <a:srgbClr val="536777"/>
                </a:solidFill>
                <a:latin typeface="Apple SD Gothic Neo"/>
                <a:ea typeface="Apple SD Gothic Neo"/>
                <a:cs typeface="Apple SD Gothic Neo"/>
              </a:defRPr>
            </a:pPr>
            <a:r>
              <a:rPr sz="1950" b="0">
                <a:solidFill>
                  <a:srgbClr val="536777"/>
                </a:solidFill>
                <a:latin typeface="Apple SD Gothic Neo"/>
                <a:ea typeface="Apple SD Gothic Neo"/>
                <a:cs typeface="Apple SD Gothic Neo"/>
              </a:rPr>
              <a:t>다음 마감을 놓치지 않도록 돕습니다.</a:t>
            </a:r>
          </a:p>
        </p:txBody>
      </p:sp>
      <p:sp>
        <p:nvSpPr>
          <p:cNvPr id="9" name="논문 필수 여부와 대체 요건은 학과·전공 유형에 따라 다릅">
            <a:extLst xmlns:a="http://schemas.openxmlformats.org/drawingml/2006/main">
              <a:ext uri="{FF2B5EF4-FFF2-40B4-BE49-F238E27FC236}">
                <a16:creationId xmlns:a16="http://schemas.microsoft.com/office/drawing/2014/main" id="{76FE35DC-9D6E-4087-A695-6633427C60E9}"/>
              </a:ext>
            </a:extLst>
          </p:cNvPr>
          <p:cNvSpPr>
            <a:spLocks xmlns:a="http://schemas.openxmlformats.org/drawingml/2006/main" noGrp="1"/>
          </p:cNvSpPr>
          <p:nvPr/>
        </p:nvSpPr>
        <p:spPr>
          <a:xfrm xmlns:a="http://schemas.openxmlformats.org/drawingml/2006/main">
            <a:off x="628650" y="601980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536777"/>
                </a:solidFill>
                <a:latin typeface="Apple SD Gothic Neo"/>
                <a:ea typeface="Apple SD Gothic Neo"/>
                <a:cs typeface="Apple SD Gothic Neo"/>
              </a:defRPr>
            </a:pPr>
            <a:r>
              <a:rPr sz="1425" b="0">
                <a:solidFill>
                  <a:srgbClr val="536777"/>
                </a:solidFill>
                <a:latin typeface="Apple SD Gothic Neo"/>
                <a:ea typeface="Apple SD Gothic Neo"/>
                <a:cs typeface="Apple SD Gothic Neo"/>
              </a:rPr>
              <a:t>논문 필수 여부와 대체 요건은 학과·전공 유형에 따라 다릅니다.</a:t>
            </a:r>
          </a:p>
        </p:txBody>
      </p:sp>
    </p:spTree>
    <p:extLst>
      <p:ext uri="{BB962C8B-B14F-4D97-AF65-F5344CB8AC3E}">
        <p14:creationId xmlns:p14="http://schemas.microsoft.com/office/powerpoint/2010/main" val="1502394578"/>
      </p:ext>
    </p:extLst>
  </p:cSld>
</p:sld>
</file>

<file path=ppt/slides/slide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6" name="학과마다 다른 졸업논문 절차">
            <a:extLst xmlns:a="http://schemas.openxmlformats.org/drawingml/2006/main">
              <a:ext uri="{FF2B5EF4-FFF2-40B4-BE49-F238E27FC236}">
                <a16:creationId xmlns:a16="http://schemas.microsoft.com/office/drawing/2014/main" id="{F743A40F-708B-4FB5-9DFD-5260B617A66B}"/>
              </a:ext>
            </a:extLst>
          </p:cNvPr>
          <p:cNvSpPr>
            <a:spLocks xmlns:a="http://schemas.openxmlformats.org/drawingml/2006/main" noGrp="1"/>
          </p:cNvSpPr>
          <p:nvPr/>
        </p:nvSpPr>
        <p:spPr>
          <a:xfrm xmlns:a="http://schemas.openxmlformats.org/drawingml/2006/main">
            <a:off x="609600" y="4953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42C40"/>
                </a:solidFill>
                <a:latin typeface="Apple SD Gothic Neo"/>
                <a:ea typeface="Apple SD Gothic Neo"/>
                <a:cs typeface="Apple SD Gothic Neo"/>
              </a:defRPr>
            </a:pPr>
            <a:r>
              <a:rPr sz="3300" b="1">
                <a:solidFill>
                  <a:srgbClr val="142C40"/>
                </a:solidFill>
                <a:latin typeface="Apple SD Gothic Neo"/>
                <a:ea typeface="Apple SD Gothic Neo"/>
                <a:cs typeface="Apple SD Gothic Neo"/>
              </a:rPr>
              <a:t>학과마다 다른 졸업논문 절차</a:t>
            </a:r>
          </a:p>
        </p:txBody>
      </p:sp>
      <p:sp>
        <p:nvSpPr>
          <p:cNvPr id="2" name="02">
            <a:extLst xmlns:a="http://schemas.openxmlformats.org/drawingml/2006/main">
              <a:ext uri="{FF2B5EF4-FFF2-40B4-BE49-F238E27FC236}">
                <a16:creationId xmlns:a16="http://schemas.microsoft.com/office/drawing/2014/main" id="{819BEAA0-E680-42A6-AF8F-9C766D5A5F0B}"/>
              </a:ext>
            </a:extLst>
          </p:cNvPr>
          <p:cNvSpPr>
            <a:spLocks xmlns:a="http://schemas.openxmlformats.org/drawingml/2006/main" noGrp="1"/>
          </p:cNvSpPr>
          <p:nvPr/>
        </p:nvSpPr>
        <p:spPr>
          <a:xfrm xmlns:a="http://schemas.openxmlformats.org/drawingml/2006/main">
            <a:off x="11163300" y="62674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02</a:t>
            </a:r>
          </a:p>
        </p:txBody>
      </p:sp>
      <p:sp>
        <p:nvSpPr>
          <p:cNvPr id="3" name="같은 졸업논문이어도 시작 방법과 완료 조건이 다릅니다.">
            <a:extLst xmlns:a="http://schemas.openxmlformats.org/drawingml/2006/main">
              <a:ext uri="{FF2B5EF4-FFF2-40B4-BE49-F238E27FC236}">
                <a16:creationId xmlns:a16="http://schemas.microsoft.com/office/drawing/2014/main" id="{2E80001B-0754-4E25-8096-096D92023E80}"/>
              </a:ext>
            </a:extLst>
          </p:cNvPr>
          <p:cNvSpPr>
            <a:spLocks xmlns:a="http://schemas.openxmlformats.org/drawingml/2006/main" noGrp="1"/>
          </p:cNvSpPr>
          <p:nvPr/>
        </p:nvSpPr>
        <p:spPr>
          <a:xfrm xmlns:a="http://schemas.openxmlformats.org/drawingml/2006/main">
            <a:off x="628650" y="13811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536777"/>
                </a:solidFill>
                <a:latin typeface="Apple SD Gothic Neo"/>
                <a:ea typeface="Apple SD Gothic Neo"/>
                <a:cs typeface="Apple SD Gothic Neo"/>
              </a:defRPr>
            </a:pPr>
            <a:r>
              <a:rPr sz="2100" b="0">
                <a:solidFill>
                  <a:srgbClr val="536777"/>
                </a:solidFill>
                <a:latin typeface="Apple SD Gothic Neo"/>
                <a:ea typeface="Apple SD Gothic Neo"/>
                <a:cs typeface="Apple SD Gothic Neo"/>
              </a:rPr>
              <a:t>같은 졸업논문이어도 시작 방법과 완료 조건이 다릅니다.</a:t>
            </a:r>
          </a:p>
        </p:txBody>
      </p:sp>
      <p:graphicFrame>
        <p:nvGraphicFramePr>
          <p:cNvPr id="9" name=""/>
          <p:cNvGraphicFramePr/>
          <p:nvPr/>
        </p:nvGraphicFramePr>
        <p:xfrm>
          <a:off xmlns:a="http://schemas.openxmlformats.org/drawingml/2006/main" x="609600" y="2190750"/>
          <a:ext xmlns:a="http://schemas.openxmlformats.org/drawingml/2006/main" cx="10972800" cy="3571875"/>
        </p:xfrm>
        <a:graphic xmlns:a="http://schemas.openxmlformats.org/drawingml/2006/main">
          <a:graphicData uri="http://schemas.openxmlformats.org/drawingml/2006/table">
            <a:tbl>
              <a:tblPr/>
              <a:tblGrid>
                <a:gridCol w="2619375"/>
                <a:gridCol w="4572000"/>
                <a:gridCol w="3781425"/>
              </a:tblGrid>
              <a:tr h="571500">
                <a:tc>
                  <a:txBody>
                    <a:bodyPr>
                      <a:noAutofit/>
                    </a:bodyPr>
                    <a:lstStyle/>
                    <a:p>
                      <a:r>
                        <a:rPr sz="1725" b="1">
                          <a:solidFill>
                            <a:srgbClr val="FFFFFF"/>
                          </a:solidFill>
                          <a:latin typeface="Apple SD Gothic Neo"/>
                          <a:ea typeface="Apple SD Gothic Neo"/>
                          <a:cs typeface="Apple SD Gothic Neo"/>
                        </a:rPr>
                        <a:t>절차의 유형</a:t>
                      </a:r>
                    </a:p>
                  </a:txBody>
                  <a:tcPr marL="190500" marR="171450" marT="123825" marB="114300" anchor="ctr">
                    <a:solidFill>
                      <a:srgbClr val="142C40"/>
                    </a:solidFill>
                  </a:tcPr>
                </a:tc>
                <a:tc>
                  <a:txBody>
                    <a:bodyPr>
                      <a:noAutofit/>
                    </a:bodyPr>
                    <a:lstStyle/>
                    <a:p>
                      <a:r>
                        <a:rPr sz="1725" b="1">
                          <a:solidFill>
                            <a:srgbClr val="FFFFFF"/>
                          </a:solidFill>
                          <a:latin typeface="Apple SD Gothic Neo"/>
                          <a:ea typeface="Apple SD Gothic Neo"/>
                          <a:cs typeface="Apple SD Gothic Neo"/>
                        </a:rPr>
                        <a:t>진행 과정의 예</a:t>
                      </a:r>
                    </a:p>
                  </a:txBody>
                  <a:tcPr marL="190500" marR="171450" marT="123825" marB="114300" anchor="ctr">
                    <a:solidFill>
                      <a:srgbClr val="142C40"/>
                    </a:solidFill>
                  </a:tcPr>
                </a:tc>
                <a:tc>
                  <a:txBody>
                    <a:bodyPr>
                      <a:noAutofit/>
                    </a:bodyPr>
                    <a:lstStyle/>
                    <a:p>
                      <a:r>
                        <a:rPr sz="1725" b="1">
                          <a:solidFill>
                            <a:srgbClr val="FFFFFF"/>
                          </a:solidFill>
                          <a:latin typeface="Apple SD Gothic Neo"/>
                          <a:ea typeface="Apple SD Gothic Neo"/>
                          <a:cs typeface="Apple SD Gothic Neo"/>
                        </a:rPr>
                        <a:t>학생이 확인할 내용</a:t>
                      </a:r>
                    </a:p>
                  </a:txBody>
                  <a:tcPr marL="190500" marR="171450" marT="123825" marB="114300" anchor="ctr">
                    <a:solidFill>
                      <a:srgbClr val="142C40"/>
                    </a:solidFill>
                  </a:tcPr>
                </a:tc>
              </a:tr>
              <a:tr h="1000125">
                <a:tc>
                  <a:txBody>
                    <a:bodyPr>
                      <a:noAutofit/>
                    </a:bodyPr>
                    <a:lstStyle/>
                    <a:p>
                      <a:r>
                        <a:rPr sz="1875" b="1">
                          <a:solidFill>
                            <a:srgbClr val="142C40"/>
                          </a:solidFill>
                          <a:latin typeface="Apple SD Gothic Neo"/>
                          <a:ea typeface="Apple SD Gothic Neo"/>
                          <a:cs typeface="Apple SD Gothic Neo"/>
                        </a:rPr>
                        <a:t>개별 연락·승인형</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교수에게 연락하고 연구계획 제출</a:t>
                      </a:r>
                    </a:p>
                    <a:p>
                      <a:r>
                        <a:rPr sz="1875" b="0">
                          <a:solidFill>
                            <a:srgbClr val="142C40"/>
                          </a:solidFill>
                          <a:latin typeface="Apple SD Gothic Neo"/>
                          <a:ea typeface="Apple SD Gothic Neo"/>
                          <a:cs typeface="Apple SD Gothic Neo"/>
                        </a:rPr>
                        <a:t>승인 후 논문 작성</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연락 시점, 신청 서류, 승인 여부</a:t>
                      </a:r>
                    </a:p>
                  </a:txBody>
                  <a:tcPr marL="190500" marR="171450" marT="123825" marB="114300" anchor="ctr">
                    <a:solidFill>
                      <a:srgbClr val="FFFFFF"/>
                    </a:solidFill>
                  </a:tcPr>
                </a:tc>
              </a:tr>
              <a:tr h="1000125">
                <a:tc>
                  <a:txBody>
                    <a:bodyPr>
                      <a:noAutofit/>
                    </a:bodyPr>
                    <a:lstStyle/>
                    <a:p>
                      <a:r>
                        <a:rPr sz="1875" b="1">
                          <a:solidFill>
                            <a:srgbClr val="142C40"/>
                          </a:solidFill>
                          <a:latin typeface="Apple SD Gothic Neo"/>
                          <a:ea typeface="Apple SD Gothic Neo"/>
                          <a:cs typeface="Apple SD Gothic Neo"/>
                        </a:rPr>
                        <a:t>수업 이수형</a:t>
                      </a:r>
                    </a:p>
                  </a:txBody>
                  <a:tcPr marL="190500" marR="171450" marT="123825" marB="114300" anchor="ctr">
                    <a:solidFill>
                      <a:srgbClr val="EAF0ED"/>
                    </a:solidFill>
                  </a:tcPr>
                </a:tc>
                <a:tc>
                  <a:txBody>
                    <a:bodyPr>
                      <a:noAutofit/>
                    </a:bodyPr>
                    <a:lstStyle/>
                    <a:p>
                      <a:r>
                        <a:rPr sz="1875" b="0">
                          <a:solidFill>
                            <a:srgbClr val="142C40"/>
                          </a:solidFill>
                          <a:latin typeface="Apple SD Gothic Neo"/>
                          <a:ea typeface="Apple SD Gothic Neo"/>
                          <a:cs typeface="Apple SD Gothic Neo"/>
                        </a:rPr>
                        <a:t>졸업 세미나 등 관련 수업 수강</a:t>
                      </a:r>
                    </a:p>
                    <a:p>
                      <a:r>
                        <a:rPr sz="1875" b="0">
                          <a:solidFill>
                            <a:srgbClr val="142C40"/>
                          </a:solidFill>
                          <a:latin typeface="Apple SD Gothic Neo"/>
                          <a:ea typeface="Apple SD Gothic Neo"/>
                          <a:cs typeface="Apple SD Gothic Neo"/>
                        </a:rPr>
                        <a:t>수업 안에서 지도와 과제 진행</a:t>
                      </a:r>
                    </a:p>
                  </a:txBody>
                  <a:tcPr marL="190500" marR="171450" marT="123825" marB="114300" anchor="ctr">
                    <a:solidFill>
                      <a:srgbClr val="EAF0ED"/>
                    </a:solidFill>
                  </a:tcPr>
                </a:tc>
                <a:tc>
                  <a:txBody>
                    <a:bodyPr>
                      <a:noAutofit/>
                    </a:bodyPr>
                    <a:lstStyle/>
                    <a:p>
                      <a:r>
                        <a:rPr sz="1875" b="0">
                          <a:solidFill>
                            <a:srgbClr val="142C40"/>
                          </a:solidFill>
                          <a:latin typeface="Apple SD Gothic Neo"/>
                          <a:ea typeface="Apple SD Gothic Neo"/>
                          <a:cs typeface="Apple SD Gothic Neo"/>
                        </a:rPr>
                        <a:t>수강 과목, 분반, 수업별 마감</a:t>
                      </a:r>
                    </a:p>
                  </a:txBody>
                  <a:tcPr marL="190500" marR="171450" marT="123825" marB="114300" anchor="ctr">
                    <a:solidFill>
                      <a:srgbClr val="EAF0ED"/>
                    </a:solidFill>
                  </a:tcPr>
                </a:tc>
              </a:tr>
              <a:tr h="1000125">
                <a:tc>
                  <a:txBody>
                    <a:bodyPr>
                      <a:noAutofit/>
                    </a:bodyPr>
                    <a:lstStyle/>
                    <a:p>
                      <a:r>
                        <a:rPr sz="1875" b="1">
                          <a:solidFill>
                            <a:srgbClr val="142C40"/>
                          </a:solidFill>
                          <a:latin typeface="Apple SD Gothic Neo"/>
                          <a:ea typeface="Apple SD Gothic Neo"/>
                          <a:cs typeface="Apple SD Gothic Neo"/>
                        </a:rPr>
                        <a:t>논문·발표형</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논문 작성과 제출</a:t>
                      </a:r>
                    </a:p>
                    <a:p>
                      <a:r>
                        <a:rPr sz="1875" b="0">
                          <a:solidFill>
                            <a:srgbClr val="142C40"/>
                          </a:solidFill>
                          <a:latin typeface="Apple SD Gothic Neo"/>
                          <a:ea typeface="Apple SD Gothic Neo"/>
                          <a:cs typeface="Apple SD Gothic Neo"/>
                        </a:rPr>
                        <a:t>발표회 참석 및 심사</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제출 형식, 발표 일정, 심사 요건</a:t>
                      </a:r>
                    </a:p>
                  </a:txBody>
                  <a:tcPr marL="190500" marR="171450" marT="123825" marB="114300" anchor="ctr">
                    <a:solidFill>
                      <a:srgbClr val="FFFFFF"/>
                    </a:solidFill>
                  </a:tcPr>
                </a:tc>
              </a:tr>
            </a:tbl>
          </a:graphicData>
        </a:graphic>
      </p:graphicFrame>
      <p:sp>
        <p:nvSpPr>
          <p:cNvPr id="5" name="설계 원칙: 각 학과의 절차를 유지하고, 확인하는 방식을 ">
            <a:extLst xmlns:a="http://schemas.openxmlformats.org/drawingml/2006/main">
              <a:ext uri="{FF2B5EF4-FFF2-40B4-BE49-F238E27FC236}">
                <a16:creationId xmlns:a16="http://schemas.microsoft.com/office/drawing/2014/main" id="{35974739-1171-430A-BA75-5539B439EF62}"/>
              </a:ext>
            </a:extLst>
          </p:cNvPr>
          <p:cNvSpPr>
            <a:spLocks xmlns:a="http://schemas.openxmlformats.org/drawingml/2006/main" noGrp="1"/>
          </p:cNvSpPr>
          <p:nvPr/>
        </p:nvSpPr>
        <p:spPr>
          <a:xfrm xmlns:a="http://schemas.openxmlformats.org/drawingml/2006/main">
            <a:off x="628650" y="59721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07E82"/>
                </a:solidFill>
                <a:latin typeface="Apple SD Gothic Neo"/>
                <a:ea typeface="Apple SD Gothic Neo"/>
                <a:cs typeface="Apple SD Gothic Neo"/>
              </a:defRPr>
            </a:pPr>
            <a:r>
              <a:rPr sz="2100" b="1">
                <a:solidFill>
                  <a:srgbClr val="007E82"/>
                </a:solidFill>
                <a:latin typeface="Apple SD Gothic Neo"/>
                <a:ea typeface="Apple SD Gothic Neo"/>
                <a:cs typeface="Apple SD Gothic Neo"/>
              </a:rPr>
              <a:t>설계 원칙: 각 학과의 절차를 유지하고, 확인하는 방식을 통일합니다.</a:t>
            </a:r>
          </a:p>
        </p:txBody>
      </p:sp>
    </p:spTree>
    <p:extLst>
      <p:ext uri="{BB962C8B-B14F-4D97-AF65-F5344CB8AC3E}">
        <p14:creationId xmlns:p14="http://schemas.microsoft.com/office/powerpoint/2010/main" val="291959736"/>
      </p:ext>
    </p:extLst>
  </p:cSld>
</p:sld>
</file>

<file path=ppt/slides/slide3.xml><?xml version="1.0" encoding="utf-8"?>
<p:sld xmlns:p="http://schemas.openxmlformats.org/presentationml/2006/main">
  <p:cSld>
    <p:bg>
      <p:bgPr>
        <a:solidFill xmlns:a="http://schemas.openxmlformats.org/drawingml/2006/main">
          <a:srgbClr val="142C40"/>
        </a:solidFill>
      </p:bgPr>
    </p:bg>
    <p:spTree>
      <p:nvGrpSpPr>
        <p:cNvPr id="1" name=""/>
        <p:cNvGrpSpPr/>
        <p:nvPr/>
      </p:nvGrpSpPr>
      <p:grpSpPr>
        <a:xfrm xmlns:a="http://schemas.openxmlformats.org/drawingml/2006/main"/>
      </p:grpSpPr>
      <p:sp>
        <p:nvSpPr>
          <p:cNvPr id="15" name="다전공생에게 겹치는 정보 탐색 부담">
            <a:extLst xmlns:a="http://schemas.openxmlformats.org/drawingml/2006/main">
              <a:ext uri="{FF2B5EF4-FFF2-40B4-BE49-F238E27FC236}">
                <a16:creationId xmlns:a16="http://schemas.microsoft.com/office/drawing/2014/main" id="{BD66DAA9-F700-4311-8018-F5EAB1EC2EC4}"/>
              </a:ext>
            </a:extLst>
          </p:cNvPr>
          <p:cNvSpPr>
            <a:spLocks xmlns:a="http://schemas.openxmlformats.org/drawingml/2006/main" noGrp="1"/>
          </p:cNvSpPr>
          <p:nvPr/>
        </p:nvSpPr>
        <p:spPr>
          <a:xfrm xmlns:a="http://schemas.openxmlformats.org/drawingml/2006/main">
            <a:off x="609600" y="4953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다전공생에게 겹치는 정보 탐색 부담</a:t>
            </a:r>
          </a:p>
        </p:txBody>
      </p:sp>
      <p:sp>
        <p:nvSpPr>
          <p:cNvPr id="2" name="03">
            <a:extLst xmlns:a="http://schemas.openxmlformats.org/drawingml/2006/main">
              <a:ext uri="{FF2B5EF4-FFF2-40B4-BE49-F238E27FC236}">
                <a16:creationId xmlns:a16="http://schemas.microsoft.com/office/drawing/2014/main" id="{BB71423A-0FFD-46F6-B11D-5E169F7AF787}"/>
              </a:ext>
            </a:extLst>
          </p:cNvPr>
          <p:cNvSpPr>
            <a:spLocks xmlns:a="http://schemas.openxmlformats.org/drawingml/2006/main" noGrp="1"/>
          </p:cNvSpPr>
          <p:nvPr/>
        </p:nvSpPr>
        <p:spPr>
          <a:xfrm xmlns:a="http://schemas.openxmlformats.org/drawingml/2006/main">
            <a:off x="11163300" y="62674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B5DFDC"/>
                </a:solidFill>
                <a:latin typeface="Apple SD Gothic Neo"/>
                <a:ea typeface="Apple SD Gothic Neo"/>
                <a:cs typeface="Apple SD Gothic Neo"/>
              </a:defRPr>
            </a:pPr>
            <a:r>
              <a:rPr sz="1350" b="0">
                <a:solidFill>
                  <a:srgbClr val="B5DFDC"/>
                </a:solidFill>
                <a:latin typeface="Apple SD Gothic Neo"/>
                <a:ea typeface="Apple SD Gothic Neo"/>
                <a:cs typeface="Apple SD Gothic Neo"/>
              </a:rPr>
              <a:t>03</a:t>
            </a:r>
          </a:p>
        </p:txBody>
      </p:sp>
      <p:sp>
        <p:nvSpPr>
          <p:cNvPr id="3" name="서울대의 많은 다전공생은 전공마다 졸업 절차를 따로 챙겨야">
            <a:extLst xmlns:a="http://schemas.openxmlformats.org/drawingml/2006/main">
              <a:ext uri="{FF2B5EF4-FFF2-40B4-BE49-F238E27FC236}">
                <a16:creationId xmlns:a16="http://schemas.microsoft.com/office/drawing/2014/main" id="{83A4F6DF-8429-4CFE-9A76-5D8E715AB700}"/>
              </a:ext>
            </a:extLst>
          </p:cNvPr>
          <p:cNvSpPr>
            <a:spLocks xmlns:a="http://schemas.openxmlformats.org/drawingml/2006/main" noGrp="1"/>
          </p:cNvSpPr>
          <p:nvPr/>
        </p:nvSpPr>
        <p:spPr>
          <a:xfrm xmlns:a="http://schemas.openxmlformats.org/drawingml/2006/main">
            <a:off x="628650" y="13716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B5DFDC"/>
                </a:solidFill>
                <a:latin typeface="Apple SD Gothic Neo"/>
                <a:ea typeface="Apple SD Gothic Neo"/>
                <a:cs typeface="Apple SD Gothic Neo"/>
              </a:defRPr>
            </a:pPr>
            <a:r>
              <a:rPr sz="2100" b="0">
                <a:solidFill>
                  <a:srgbClr val="B5DFDC"/>
                </a:solidFill>
                <a:latin typeface="Apple SD Gothic Neo"/>
                <a:ea typeface="Apple SD Gothic Neo"/>
                <a:cs typeface="Apple SD Gothic Neo"/>
              </a:rPr>
              <a:t>서울대의 많은 다전공생은 전공마다 졸업 절차를 따로 챙겨야 합니다.</a:t>
            </a:r>
          </a:p>
        </p:txBody>
      </p:sp>
      <p:sp>
        <p:nvSpPr>
          <p:cNvPr id="4" name="여러 전공&#10;여러 절차&#10;여러 공지 채널">
            <a:extLst xmlns:a="http://schemas.openxmlformats.org/drawingml/2006/main">
              <a:ext uri="{FF2B5EF4-FFF2-40B4-BE49-F238E27FC236}">
                <a16:creationId xmlns:a16="http://schemas.microsoft.com/office/drawing/2014/main" id="{13DBC115-4F56-4D13-87A7-A7B62A2C5F5F}"/>
              </a:ext>
            </a:extLst>
          </p:cNvPr>
          <p:cNvSpPr>
            <a:spLocks xmlns:a="http://schemas.openxmlformats.org/drawingml/2006/main" noGrp="1"/>
          </p:cNvSpPr>
          <p:nvPr/>
        </p:nvSpPr>
        <p:spPr>
          <a:xfrm xmlns:a="http://schemas.openxmlformats.org/drawingml/2006/main">
            <a:off x="609600" y="2409825"/>
            <a:ext cx="45720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FFFFFF"/>
                </a:solidFill>
                <a:latin typeface="Apple SD Gothic Neo"/>
                <a:ea typeface="Apple SD Gothic Neo"/>
                <a:cs typeface="Apple SD Gothic Neo"/>
              </a:defRPr>
            </a:pPr>
            <a:r>
              <a:rPr sz="4275" b="1">
                <a:solidFill>
                  <a:srgbClr val="FFFFFF"/>
                </a:solidFill>
                <a:latin typeface="Apple SD Gothic Neo"/>
                <a:ea typeface="Apple SD Gothic Neo"/>
                <a:cs typeface="Apple SD Gothic Neo"/>
              </a:rPr>
              <a:t>여러 전공</a:t>
            </a:r>
          </a:p>
          <a:p xmlns:a="http://schemas.openxmlformats.org/drawingml/2006/main">
            <a:pPr>
              <a:defRPr sz="4275" b="1">
                <a:solidFill>
                  <a:srgbClr val="FFFFFF"/>
                </a:solidFill>
                <a:latin typeface="Apple SD Gothic Neo"/>
                <a:ea typeface="Apple SD Gothic Neo"/>
                <a:cs typeface="Apple SD Gothic Neo"/>
              </a:defRPr>
            </a:pPr>
            <a:r>
              <a:rPr sz="4275" b="1">
                <a:solidFill>
                  <a:srgbClr val="FFFFFF"/>
                </a:solidFill>
                <a:latin typeface="Apple SD Gothic Neo"/>
                <a:ea typeface="Apple SD Gothic Neo"/>
                <a:cs typeface="Apple SD Gothic Neo"/>
              </a:rPr>
              <a:t>여러 절차</a:t>
            </a:r>
          </a:p>
          <a:p xmlns:a="http://schemas.openxmlformats.org/drawingml/2006/main">
            <a:pPr>
              <a:defRPr sz="4275" b="1">
                <a:solidFill>
                  <a:srgbClr val="FFFFFF"/>
                </a:solidFill>
                <a:latin typeface="Apple SD Gothic Neo"/>
                <a:ea typeface="Apple SD Gothic Neo"/>
                <a:cs typeface="Apple SD Gothic Neo"/>
              </a:defRPr>
            </a:pPr>
            <a:r>
              <a:rPr sz="4275" b="1">
                <a:solidFill>
                  <a:srgbClr val="FFFFFF"/>
                </a:solidFill>
                <a:latin typeface="Apple SD Gothic Neo"/>
                <a:ea typeface="Apple SD Gothic Neo"/>
                <a:cs typeface="Apple SD Gothic Neo"/>
              </a:rPr>
              <a:t>여러 공지 채널</a:t>
            </a:r>
          </a:p>
        </p:txBody>
      </p:sp>
      <p:sp>
        <p:nvSpPr>
          <p:cNvPr id="5" name="01">
            <a:extLst xmlns:a="http://schemas.openxmlformats.org/drawingml/2006/main">
              <a:ext uri="{FF2B5EF4-FFF2-40B4-BE49-F238E27FC236}">
                <a16:creationId xmlns:a16="http://schemas.microsoft.com/office/drawing/2014/main" id="{3C748106-67D1-4EAC-8292-EB96F48255E1}"/>
              </a:ext>
            </a:extLst>
          </p:cNvPr>
          <p:cNvSpPr>
            <a:spLocks xmlns:a="http://schemas.openxmlformats.org/drawingml/2006/main" noGrp="1"/>
          </p:cNvSpPr>
          <p:nvPr/>
        </p:nvSpPr>
        <p:spPr>
          <a:xfrm xmlns:a="http://schemas.openxmlformats.org/drawingml/2006/main">
            <a:off x="5715000" y="22955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B5DFDC"/>
                </a:solidFill>
                <a:latin typeface="Apple SD Gothic Neo"/>
                <a:ea typeface="Apple SD Gothic Neo"/>
                <a:cs typeface="Apple SD Gothic Neo"/>
              </a:defRPr>
            </a:pPr>
            <a:r>
              <a:rPr sz="2025" b="1">
                <a:solidFill>
                  <a:srgbClr val="B5DFDC"/>
                </a:solidFill>
                <a:latin typeface="Apple SD Gothic Neo"/>
                <a:ea typeface="Apple SD Gothic Neo"/>
                <a:cs typeface="Apple SD Gothic Neo"/>
              </a:rPr>
              <a:t>01</a:t>
            </a:r>
          </a:p>
        </p:txBody>
      </p:sp>
      <p:sp>
        <p:nvSpPr>
          <p:cNvPr id="6" name="공지의 위치부터 다시 찾기">
            <a:extLst xmlns:a="http://schemas.openxmlformats.org/drawingml/2006/main">
              <a:ext uri="{FF2B5EF4-FFF2-40B4-BE49-F238E27FC236}">
                <a16:creationId xmlns:a16="http://schemas.microsoft.com/office/drawing/2014/main" id="{4A360B45-BA1E-4952-910F-DD3452E2C31B}"/>
              </a:ext>
            </a:extLst>
          </p:cNvPr>
          <p:cNvSpPr>
            <a:spLocks xmlns:a="http://schemas.openxmlformats.org/drawingml/2006/main" noGrp="1"/>
          </p:cNvSpPr>
          <p:nvPr/>
        </p:nvSpPr>
        <p:spPr>
          <a:xfrm xmlns:a="http://schemas.openxmlformats.org/drawingml/2006/main">
            <a:off x="6496050" y="22479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FFFF"/>
                </a:solidFill>
                <a:latin typeface="Apple SD Gothic Neo"/>
                <a:ea typeface="Apple SD Gothic Neo"/>
                <a:cs typeface="Apple SD Gothic Neo"/>
              </a:defRPr>
            </a:pPr>
            <a:r>
              <a:rPr sz="2250" b="1">
                <a:solidFill>
                  <a:srgbClr val="FFFFFF"/>
                </a:solidFill>
                <a:latin typeface="Apple SD Gothic Neo"/>
                <a:ea typeface="Apple SD Gothic Neo"/>
                <a:cs typeface="Apple SD Gothic Neo"/>
              </a:rPr>
              <a:t>공지의 위치부터 다시 찾기</a:t>
            </a:r>
          </a:p>
        </p:txBody>
      </p:sp>
      <p:sp>
        <p:nvSpPr>
          <p:cNvPr id="7" name="메일과 학과 게시판을 오가며&#10;새 공지와 변경 사항을 반복해">
            <a:extLst xmlns:a="http://schemas.openxmlformats.org/drawingml/2006/main">
              <a:ext uri="{FF2B5EF4-FFF2-40B4-BE49-F238E27FC236}">
                <a16:creationId xmlns:a16="http://schemas.microsoft.com/office/drawing/2014/main" id="{E3D54B7B-C93A-48D4-9CEE-61ABFB20B379}"/>
              </a:ext>
            </a:extLst>
          </p:cNvPr>
          <p:cNvSpPr>
            <a:spLocks xmlns:a="http://schemas.openxmlformats.org/drawingml/2006/main" noGrp="1"/>
          </p:cNvSpPr>
          <p:nvPr/>
        </p:nvSpPr>
        <p:spPr>
          <a:xfrm xmlns:a="http://schemas.openxmlformats.org/drawingml/2006/main">
            <a:off x="6496050" y="2724150"/>
            <a:ext cx="5048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DAE5EC"/>
                </a:solidFill>
                <a:latin typeface="Apple SD Gothic Neo"/>
                <a:ea typeface="Apple SD Gothic Neo"/>
                <a:cs typeface="Apple SD Gothic Neo"/>
              </a:defRPr>
            </a:pPr>
            <a:r>
              <a:rPr sz="1875" b="0">
                <a:solidFill>
                  <a:srgbClr val="DAE5EC"/>
                </a:solidFill>
                <a:latin typeface="Apple SD Gothic Neo"/>
                <a:ea typeface="Apple SD Gothic Neo"/>
                <a:cs typeface="Apple SD Gothic Neo"/>
              </a:rPr>
              <a:t>메일과 학과 게시판을 오가며</a:t>
            </a:r>
          </a:p>
          <a:p xmlns:a="http://schemas.openxmlformats.org/drawingml/2006/main">
            <a:pPr>
              <a:defRPr sz="1875" b="0">
                <a:solidFill>
                  <a:srgbClr val="DAE5EC"/>
                </a:solidFill>
                <a:latin typeface="Apple SD Gothic Neo"/>
                <a:ea typeface="Apple SD Gothic Neo"/>
                <a:cs typeface="Apple SD Gothic Neo"/>
              </a:defRPr>
            </a:pPr>
            <a:r>
              <a:rPr sz="1875" b="0">
                <a:solidFill>
                  <a:srgbClr val="DAE5EC"/>
                </a:solidFill>
                <a:latin typeface="Apple SD Gothic Neo"/>
                <a:ea typeface="Apple SD Gothic Neo"/>
                <a:cs typeface="Apple SD Gothic Neo"/>
              </a:rPr>
              <a:t>새 공지와 변경 사항을 반복해서 검색합니다.</a:t>
            </a:r>
          </a:p>
        </p:txBody>
      </p:sp>
      <p:sp>
        <p:nvSpPr>
          <p:cNvPr id="8" name="02">
            <a:extLst xmlns:a="http://schemas.openxmlformats.org/drawingml/2006/main">
              <a:ext uri="{FF2B5EF4-FFF2-40B4-BE49-F238E27FC236}">
                <a16:creationId xmlns:a16="http://schemas.microsoft.com/office/drawing/2014/main" id="{8B0AC55F-074C-4C39-BCA3-A861C68BB60E}"/>
              </a:ext>
            </a:extLst>
          </p:cNvPr>
          <p:cNvSpPr>
            <a:spLocks xmlns:a="http://schemas.openxmlformats.org/drawingml/2006/main" noGrp="1"/>
          </p:cNvSpPr>
          <p:nvPr/>
        </p:nvSpPr>
        <p:spPr>
          <a:xfrm xmlns:a="http://schemas.openxmlformats.org/drawingml/2006/main">
            <a:off x="5715000" y="36671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B5DFDC"/>
                </a:solidFill>
                <a:latin typeface="Apple SD Gothic Neo"/>
                <a:ea typeface="Apple SD Gothic Neo"/>
                <a:cs typeface="Apple SD Gothic Neo"/>
              </a:defRPr>
            </a:pPr>
            <a:r>
              <a:rPr sz="2025" b="1">
                <a:solidFill>
                  <a:srgbClr val="B5DFDC"/>
                </a:solidFill>
                <a:latin typeface="Apple SD Gothic Neo"/>
                <a:ea typeface="Apple SD Gothic Neo"/>
                <a:cs typeface="Apple SD Gothic Neo"/>
              </a:rPr>
              <a:t>02</a:t>
            </a:r>
          </a:p>
        </p:txBody>
      </p:sp>
      <p:sp>
        <p:nvSpPr>
          <p:cNvPr id="9" name="복수전공 학과의 인맥 부족">
            <a:extLst xmlns:a="http://schemas.openxmlformats.org/drawingml/2006/main">
              <a:ext uri="{FF2B5EF4-FFF2-40B4-BE49-F238E27FC236}">
                <a16:creationId xmlns:a16="http://schemas.microsoft.com/office/drawing/2014/main" id="{6516C754-22FB-4674-8528-8984A2537EF9}"/>
              </a:ext>
            </a:extLst>
          </p:cNvPr>
          <p:cNvSpPr>
            <a:spLocks xmlns:a="http://schemas.openxmlformats.org/drawingml/2006/main" noGrp="1"/>
          </p:cNvSpPr>
          <p:nvPr/>
        </p:nvSpPr>
        <p:spPr>
          <a:xfrm xmlns:a="http://schemas.openxmlformats.org/drawingml/2006/main">
            <a:off x="6496050" y="36195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FFFF"/>
                </a:solidFill>
                <a:latin typeface="Apple SD Gothic Neo"/>
                <a:ea typeface="Apple SD Gothic Neo"/>
                <a:cs typeface="Apple SD Gothic Neo"/>
              </a:defRPr>
            </a:pPr>
            <a:r>
              <a:rPr sz="2250" b="1">
                <a:solidFill>
                  <a:srgbClr val="FFFFFF"/>
                </a:solidFill>
                <a:latin typeface="Apple SD Gothic Neo"/>
                <a:ea typeface="Apple SD Gothic Neo"/>
                <a:cs typeface="Apple SD Gothic Neo"/>
              </a:rPr>
              <a:t>복수전공 학과의 인맥 부족</a:t>
            </a:r>
          </a:p>
        </p:txBody>
      </p:sp>
      <p:sp>
        <p:nvSpPr>
          <p:cNvPr id="10" name="아는 동기나 선배가 적으면&#10;누구에게 무엇을 물을지도 막막합">
            <a:extLst xmlns:a="http://schemas.openxmlformats.org/drawingml/2006/main">
              <a:ext uri="{FF2B5EF4-FFF2-40B4-BE49-F238E27FC236}">
                <a16:creationId xmlns:a16="http://schemas.microsoft.com/office/drawing/2014/main" id="{B184189A-E886-492A-B3FA-4699317BF53C}"/>
              </a:ext>
            </a:extLst>
          </p:cNvPr>
          <p:cNvSpPr>
            <a:spLocks xmlns:a="http://schemas.openxmlformats.org/drawingml/2006/main" noGrp="1"/>
          </p:cNvSpPr>
          <p:nvPr/>
        </p:nvSpPr>
        <p:spPr>
          <a:xfrm xmlns:a="http://schemas.openxmlformats.org/drawingml/2006/main">
            <a:off x="6496050" y="409575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DAE5EC"/>
                </a:solidFill>
                <a:latin typeface="Apple SD Gothic Neo"/>
                <a:ea typeface="Apple SD Gothic Neo"/>
                <a:cs typeface="Apple SD Gothic Neo"/>
              </a:defRPr>
            </a:pPr>
            <a:r>
              <a:rPr sz="1875" b="0">
                <a:solidFill>
                  <a:srgbClr val="DAE5EC"/>
                </a:solidFill>
                <a:latin typeface="Apple SD Gothic Neo"/>
                <a:ea typeface="Apple SD Gothic Neo"/>
                <a:cs typeface="Apple SD Gothic Neo"/>
              </a:rPr>
              <a:t>아는 동기나 선배가 적으면</a:t>
            </a:r>
          </a:p>
          <a:p xmlns:a="http://schemas.openxmlformats.org/drawingml/2006/main">
            <a:pPr>
              <a:defRPr sz="1875" b="0">
                <a:solidFill>
                  <a:srgbClr val="DAE5EC"/>
                </a:solidFill>
                <a:latin typeface="Apple SD Gothic Neo"/>
                <a:ea typeface="Apple SD Gothic Neo"/>
                <a:cs typeface="Apple SD Gothic Neo"/>
              </a:defRPr>
            </a:pPr>
            <a:r>
              <a:rPr sz="1875" b="0">
                <a:solidFill>
                  <a:srgbClr val="DAE5EC"/>
                </a:solidFill>
                <a:latin typeface="Apple SD Gothic Neo"/>
                <a:ea typeface="Apple SD Gothic Neo"/>
                <a:cs typeface="Apple SD Gothic Neo"/>
              </a:rPr>
              <a:t>누구에게 무엇을 물을지도 막막합니다.</a:t>
            </a:r>
          </a:p>
        </p:txBody>
      </p:sp>
      <p:sp>
        <p:nvSpPr>
          <p:cNvPr id="11" name="03">
            <a:extLst xmlns:a="http://schemas.openxmlformats.org/drawingml/2006/main">
              <a:ext uri="{FF2B5EF4-FFF2-40B4-BE49-F238E27FC236}">
                <a16:creationId xmlns:a16="http://schemas.microsoft.com/office/drawing/2014/main" id="{2014582E-6025-4D74-8C75-9ED14859E655}"/>
              </a:ext>
            </a:extLst>
          </p:cNvPr>
          <p:cNvSpPr>
            <a:spLocks xmlns:a="http://schemas.openxmlformats.org/drawingml/2006/main" noGrp="1"/>
          </p:cNvSpPr>
          <p:nvPr/>
        </p:nvSpPr>
        <p:spPr>
          <a:xfrm xmlns:a="http://schemas.openxmlformats.org/drawingml/2006/main">
            <a:off x="5715000" y="50006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B5DFDC"/>
                </a:solidFill>
                <a:latin typeface="Apple SD Gothic Neo"/>
                <a:ea typeface="Apple SD Gothic Neo"/>
                <a:cs typeface="Apple SD Gothic Neo"/>
              </a:defRPr>
            </a:pPr>
            <a:r>
              <a:rPr sz="2025" b="1">
                <a:solidFill>
                  <a:srgbClr val="B5DFDC"/>
                </a:solidFill>
                <a:latin typeface="Apple SD Gothic Neo"/>
                <a:ea typeface="Apple SD Gothic Neo"/>
                <a:cs typeface="Apple SD Gothic Neo"/>
              </a:rPr>
              <a:t>03</a:t>
            </a:r>
          </a:p>
        </p:txBody>
      </p:sp>
      <p:sp>
        <p:nvSpPr>
          <p:cNvPr id="12" name="익명 커뮤니티에 다시 질문">
            <a:extLst xmlns:a="http://schemas.openxmlformats.org/drawingml/2006/main">
              <a:ext uri="{FF2B5EF4-FFF2-40B4-BE49-F238E27FC236}">
                <a16:creationId xmlns:a16="http://schemas.microsoft.com/office/drawing/2014/main" id="{6CA11309-0C6C-493C-9FAB-1D21FF8ECB8E}"/>
              </a:ext>
            </a:extLst>
          </p:cNvPr>
          <p:cNvSpPr>
            <a:spLocks xmlns:a="http://schemas.openxmlformats.org/drawingml/2006/main" noGrp="1"/>
          </p:cNvSpPr>
          <p:nvPr/>
        </p:nvSpPr>
        <p:spPr>
          <a:xfrm xmlns:a="http://schemas.openxmlformats.org/drawingml/2006/main">
            <a:off x="6496050" y="49530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FFFF"/>
                </a:solidFill>
                <a:latin typeface="Apple SD Gothic Neo"/>
                <a:ea typeface="Apple SD Gothic Neo"/>
                <a:cs typeface="Apple SD Gothic Neo"/>
              </a:defRPr>
            </a:pPr>
            <a:r>
              <a:rPr sz="2250" b="1">
                <a:solidFill>
                  <a:srgbClr val="FFFFFF"/>
                </a:solidFill>
                <a:latin typeface="Apple SD Gothic Neo"/>
                <a:ea typeface="Apple SD Gothic Neo"/>
                <a:cs typeface="Apple SD Gothic Neo"/>
              </a:rPr>
              <a:t>익명 커뮤니티에 다시 질문</a:t>
            </a:r>
          </a:p>
        </p:txBody>
      </p:sp>
      <p:sp>
        <p:nvSpPr>
          <p:cNvPr id="13" name="최신 규정인지, 내 전공에도 적용되는지&#10;확인하기 어려운 정">
            <a:extLst xmlns:a="http://schemas.openxmlformats.org/drawingml/2006/main">
              <a:ext uri="{FF2B5EF4-FFF2-40B4-BE49-F238E27FC236}">
                <a16:creationId xmlns:a16="http://schemas.microsoft.com/office/drawing/2014/main" id="{3CCF2672-8FAC-465D-9962-A1CD0EAA9FCD}"/>
              </a:ext>
            </a:extLst>
          </p:cNvPr>
          <p:cNvSpPr>
            <a:spLocks xmlns:a="http://schemas.openxmlformats.org/drawingml/2006/main" noGrp="1"/>
          </p:cNvSpPr>
          <p:nvPr/>
        </p:nvSpPr>
        <p:spPr>
          <a:xfrm xmlns:a="http://schemas.openxmlformats.org/drawingml/2006/main">
            <a:off x="6496050" y="5429250"/>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DAE5EC"/>
                </a:solidFill>
                <a:latin typeface="Apple SD Gothic Neo"/>
                <a:ea typeface="Apple SD Gothic Neo"/>
                <a:cs typeface="Apple SD Gothic Neo"/>
              </a:defRPr>
            </a:pPr>
            <a:r>
              <a:rPr sz="1875" b="0">
                <a:solidFill>
                  <a:srgbClr val="DAE5EC"/>
                </a:solidFill>
                <a:latin typeface="Apple SD Gothic Neo"/>
                <a:ea typeface="Apple SD Gothic Neo"/>
                <a:cs typeface="Apple SD Gothic Neo"/>
              </a:rPr>
              <a:t>최신 규정인지, 내 전공에도 적용되는지</a:t>
            </a:r>
          </a:p>
          <a:p xmlns:a="http://schemas.openxmlformats.org/drawingml/2006/main">
            <a:pPr>
              <a:defRPr sz="1875" b="0">
                <a:solidFill>
                  <a:srgbClr val="DAE5EC"/>
                </a:solidFill>
                <a:latin typeface="Apple SD Gothic Neo"/>
                <a:ea typeface="Apple SD Gothic Neo"/>
                <a:cs typeface="Apple SD Gothic Neo"/>
              </a:defRPr>
            </a:pPr>
            <a:r>
              <a:rPr sz="1875" b="0">
                <a:solidFill>
                  <a:srgbClr val="DAE5EC"/>
                </a:solidFill>
                <a:latin typeface="Apple SD Gothic Neo"/>
                <a:ea typeface="Apple SD Gothic Neo"/>
                <a:cs typeface="Apple SD Gothic Neo"/>
              </a:rPr>
              <a:t>확인하기 어려운 정보에 의존하게 됩니다.</a:t>
            </a:r>
          </a:p>
        </p:txBody>
      </p:sp>
      <p:sp>
        <p:nvSpPr>
          <p:cNvPr id="14" name="기획자의 관찰과 경험을 바탕으로 한 문제 정의">
            <a:extLst xmlns:a="http://schemas.openxmlformats.org/drawingml/2006/main">
              <a:ext uri="{FF2B5EF4-FFF2-40B4-BE49-F238E27FC236}">
                <a16:creationId xmlns:a16="http://schemas.microsoft.com/office/drawing/2014/main" id="{BF62D39B-C448-4AB7-956C-869546847558}"/>
              </a:ext>
            </a:extLst>
          </p:cNvPr>
          <p:cNvSpPr>
            <a:spLocks xmlns:a="http://schemas.openxmlformats.org/drawingml/2006/main" noGrp="1"/>
          </p:cNvSpPr>
          <p:nvPr/>
        </p:nvSpPr>
        <p:spPr>
          <a:xfrm xmlns:a="http://schemas.openxmlformats.org/drawingml/2006/main">
            <a:off x="628650" y="6096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0">
                <a:solidFill>
                  <a:srgbClr val="B5DFDC"/>
                </a:solidFill>
                <a:latin typeface="Apple SD Gothic Neo"/>
                <a:ea typeface="Apple SD Gothic Neo"/>
                <a:cs typeface="Apple SD Gothic Neo"/>
              </a:defRPr>
            </a:pPr>
            <a:r>
              <a:rPr sz="1425" b="0">
                <a:solidFill>
                  <a:srgbClr val="B5DFDC"/>
                </a:solidFill>
                <a:latin typeface="Apple SD Gothic Neo"/>
                <a:ea typeface="Apple SD Gothic Neo"/>
                <a:cs typeface="Apple SD Gothic Neo"/>
              </a:rPr>
              <a:t>기획자의 관찰과 경험을 바탕으로 한 문제 정의</a:t>
            </a:r>
          </a:p>
        </p:txBody>
      </p:sp>
    </p:spTree>
    <p:extLst>
      <p:ext uri="{BB962C8B-B14F-4D97-AF65-F5344CB8AC3E}">
        <p14:creationId xmlns:p14="http://schemas.microsoft.com/office/powerpoint/2010/main" val="1574324777"/>
      </p:ext>
    </p:extLst>
  </p:cSld>
</p:sld>
</file>

<file path=ppt/slides/slide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13" name="학생: 전공별 진행 상황을 한 화면에서">
            <a:extLst xmlns:a="http://schemas.openxmlformats.org/drawingml/2006/main">
              <a:ext uri="{FF2B5EF4-FFF2-40B4-BE49-F238E27FC236}">
                <a16:creationId xmlns:a16="http://schemas.microsoft.com/office/drawing/2014/main" id="{07C952BF-D83A-47F9-A79A-EF218A2B3E5D}"/>
              </a:ext>
            </a:extLst>
          </p:cNvPr>
          <p:cNvSpPr>
            <a:spLocks xmlns:a="http://schemas.openxmlformats.org/drawingml/2006/main" noGrp="1"/>
          </p:cNvSpPr>
          <p:nvPr/>
        </p:nvSpPr>
        <p:spPr>
          <a:xfrm xmlns:a="http://schemas.openxmlformats.org/drawingml/2006/main">
            <a:off x="609600" y="4953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42C40"/>
                </a:solidFill>
                <a:latin typeface="Apple SD Gothic Neo"/>
                <a:ea typeface="Apple SD Gothic Neo"/>
                <a:cs typeface="Apple SD Gothic Neo"/>
              </a:defRPr>
            </a:pPr>
            <a:r>
              <a:rPr sz="3300" b="1">
                <a:solidFill>
                  <a:srgbClr val="142C40"/>
                </a:solidFill>
                <a:latin typeface="Apple SD Gothic Neo"/>
                <a:ea typeface="Apple SD Gothic Neo"/>
                <a:cs typeface="Apple SD Gothic Neo"/>
              </a:rPr>
              <a:t>학생: 전공별 진행 상황을 한 화면에서</a:t>
            </a:r>
          </a:p>
        </p:txBody>
      </p:sp>
      <p:sp>
        <p:nvSpPr>
          <p:cNvPr id="2" name="04">
            <a:extLst xmlns:a="http://schemas.openxmlformats.org/drawingml/2006/main">
              <a:ext uri="{FF2B5EF4-FFF2-40B4-BE49-F238E27FC236}">
                <a16:creationId xmlns:a16="http://schemas.microsoft.com/office/drawing/2014/main" id="{DC509C1A-168F-466E-B8BB-D6E29DAC2421}"/>
              </a:ext>
            </a:extLst>
          </p:cNvPr>
          <p:cNvSpPr>
            <a:spLocks xmlns:a="http://schemas.openxmlformats.org/drawingml/2006/main" noGrp="1"/>
          </p:cNvSpPr>
          <p:nvPr/>
        </p:nvSpPr>
        <p:spPr>
          <a:xfrm xmlns:a="http://schemas.openxmlformats.org/drawingml/2006/main">
            <a:off x="11163300" y="62674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04</a:t>
            </a:r>
          </a:p>
        </p:txBody>
      </p:sp>
      <p:sp>
        <p:nvSpPr>
          <p:cNvPr id="3" name="흩어진 안내를 나의 전공과 현재 단계에 맞춰 보여줍니다.">
            <a:extLst xmlns:a="http://schemas.openxmlformats.org/drawingml/2006/main">
              <a:ext uri="{FF2B5EF4-FFF2-40B4-BE49-F238E27FC236}">
                <a16:creationId xmlns:a16="http://schemas.microsoft.com/office/drawing/2014/main" id="{B795E732-2D90-49EF-AD69-C4DD19A3ED7F}"/>
              </a:ext>
            </a:extLst>
          </p:cNvPr>
          <p:cNvSpPr>
            <a:spLocks xmlns:a="http://schemas.openxmlformats.org/drawingml/2006/main" noGrp="1"/>
          </p:cNvSpPr>
          <p:nvPr/>
        </p:nvSpPr>
        <p:spPr>
          <a:xfrm xmlns:a="http://schemas.openxmlformats.org/drawingml/2006/main">
            <a:off x="628650" y="13811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536777"/>
                </a:solidFill>
                <a:latin typeface="Apple SD Gothic Neo"/>
                <a:ea typeface="Apple SD Gothic Neo"/>
                <a:cs typeface="Apple SD Gothic Neo"/>
              </a:defRPr>
            </a:pPr>
            <a:r>
              <a:rPr sz="2100" b="0">
                <a:solidFill>
                  <a:srgbClr val="536777"/>
                </a:solidFill>
                <a:latin typeface="Apple SD Gothic Neo"/>
                <a:ea typeface="Apple SD Gothic Neo"/>
                <a:cs typeface="Apple SD Gothic Neo"/>
              </a:rPr>
              <a:t>흩어진 안내를 나의 전공과 현재 단계에 맞춰 보여줍니다.</a:t>
            </a:r>
          </a:p>
        </p:txBody>
      </p:sp>
      <p:sp>
        <p:nvSpPr>
          <p:cNvPr id="4" name="전공별 로드맵과 다음 할 일">
            <a:extLst xmlns:a="http://schemas.openxmlformats.org/drawingml/2006/main">
              <a:ext uri="{FF2B5EF4-FFF2-40B4-BE49-F238E27FC236}">
                <a16:creationId xmlns:a16="http://schemas.microsoft.com/office/drawing/2014/main" id="{0BE428C4-2112-4599-A181-16D80680C096}"/>
              </a:ext>
            </a:extLst>
          </p:cNvPr>
          <p:cNvSpPr>
            <a:spLocks xmlns:a="http://schemas.openxmlformats.org/drawingml/2006/main" noGrp="1"/>
          </p:cNvSpPr>
          <p:nvPr/>
        </p:nvSpPr>
        <p:spPr>
          <a:xfrm xmlns:a="http://schemas.openxmlformats.org/drawingml/2006/main">
            <a:off x="609600" y="2295525"/>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7E82"/>
                </a:solidFill>
                <a:latin typeface="Apple SD Gothic Neo"/>
                <a:ea typeface="Apple SD Gothic Neo"/>
                <a:cs typeface="Apple SD Gothic Neo"/>
              </a:defRPr>
            </a:pPr>
            <a:r>
              <a:rPr sz="2175" b="1">
                <a:solidFill>
                  <a:srgbClr val="007E82"/>
                </a:solidFill>
                <a:latin typeface="Apple SD Gothic Neo"/>
                <a:ea typeface="Apple SD Gothic Neo"/>
                <a:cs typeface="Apple SD Gothic Neo"/>
              </a:rPr>
              <a:t>전공별 로드맵과 다음 할 일</a:t>
            </a:r>
          </a:p>
        </p:txBody>
      </p:sp>
      <p:sp>
        <p:nvSpPr>
          <p:cNvPr id="5" name="주전공·복수전공의 절차를 구분하고&#10;현재 단계, 마감, 제출">
            <a:extLst xmlns:a="http://schemas.openxmlformats.org/drawingml/2006/main">
              <a:ext uri="{FF2B5EF4-FFF2-40B4-BE49-F238E27FC236}">
                <a16:creationId xmlns:a16="http://schemas.microsoft.com/office/drawing/2014/main" id="{694AE2E7-AC5C-4C29-A50B-F432C4EE20DA}"/>
              </a:ext>
            </a:extLst>
          </p:cNvPr>
          <p:cNvSpPr>
            <a:spLocks xmlns:a="http://schemas.openxmlformats.org/drawingml/2006/main" noGrp="1"/>
          </p:cNvSpPr>
          <p:nvPr/>
        </p:nvSpPr>
        <p:spPr>
          <a:xfrm xmlns:a="http://schemas.openxmlformats.org/drawingml/2006/main">
            <a:off x="609600" y="2771775"/>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C40"/>
                </a:solidFill>
                <a:latin typeface="Apple SD Gothic Neo"/>
                <a:ea typeface="Apple SD Gothic Neo"/>
                <a:cs typeface="Apple SD Gothic Neo"/>
              </a:defRPr>
            </a:pPr>
            <a:r>
              <a:rPr sz="1950" b="0">
                <a:solidFill>
                  <a:srgbClr val="142C40"/>
                </a:solidFill>
                <a:latin typeface="Apple SD Gothic Neo"/>
                <a:ea typeface="Apple SD Gothic Neo"/>
                <a:cs typeface="Apple SD Gothic Neo"/>
              </a:rPr>
              <a:t>주전공·복수전공의 절차를 구분하고</a:t>
            </a:r>
          </a:p>
          <a:p xmlns:a="http://schemas.openxmlformats.org/drawingml/2006/main">
            <a:pPr>
              <a:defRPr sz="1950" b="0">
                <a:solidFill>
                  <a:srgbClr val="142C40"/>
                </a:solidFill>
                <a:latin typeface="Apple SD Gothic Neo"/>
                <a:ea typeface="Apple SD Gothic Neo"/>
                <a:cs typeface="Apple SD Gothic Neo"/>
              </a:defRPr>
            </a:pPr>
            <a:r>
              <a:rPr sz="1950" b="0">
                <a:solidFill>
                  <a:srgbClr val="142C40"/>
                </a:solidFill>
                <a:latin typeface="Apple SD Gothic Neo"/>
                <a:ea typeface="Apple SD Gothic Neo"/>
                <a:cs typeface="Apple SD Gothic Neo"/>
              </a:rPr>
              <a:t>현재 단계, 마감, 제출처를 확인합니다.</a:t>
            </a:r>
          </a:p>
        </p:txBody>
      </p:sp>
      <p:sp>
        <p:nvSpPr>
          <p:cNvPr id="6" name="모든 전공을 합친 일정">
            <a:extLst xmlns:a="http://schemas.openxmlformats.org/drawingml/2006/main">
              <a:ext uri="{FF2B5EF4-FFF2-40B4-BE49-F238E27FC236}">
                <a16:creationId xmlns:a16="http://schemas.microsoft.com/office/drawing/2014/main" id="{AD2B0893-191A-4A1F-BB5A-D3477B0CB209}"/>
              </a:ext>
            </a:extLst>
          </p:cNvPr>
          <p:cNvSpPr>
            <a:spLocks xmlns:a="http://schemas.openxmlformats.org/drawingml/2006/main" noGrp="1"/>
          </p:cNvSpPr>
          <p:nvPr/>
        </p:nvSpPr>
        <p:spPr>
          <a:xfrm xmlns:a="http://schemas.openxmlformats.org/drawingml/2006/main">
            <a:off x="609600" y="38481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7E82"/>
                </a:solidFill>
                <a:latin typeface="Apple SD Gothic Neo"/>
                <a:ea typeface="Apple SD Gothic Neo"/>
                <a:cs typeface="Apple SD Gothic Neo"/>
              </a:defRPr>
            </a:pPr>
            <a:r>
              <a:rPr sz="2175" b="1">
                <a:solidFill>
                  <a:srgbClr val="007E82"/>
                </a:solidFill>
                <a:latin typeface="Apple SD Gothic Neo"/>
                <a:ea typeface="Apple SD Gothic Neo"/>
                <a:cs typeface="Apple SD Gothic Neo"/>
              </a:rPr>
              <a:t>모든 전공을 합친 일정</a:t>
            </a:r>
          </a:p>
        </p:txBody>
      </p:sp>
      <p:sp>
        <p:nvSpPr>
          <p:cNvPr id="7" name="마감·면담·공지 일정을 한 달력에 모아&#10;전공별 색상과 필터">
            <a:extLst xmlns:a="http://schemas.openxmlformats.org/drawingml/2006/main">
              <a:ext uri="{FF2B5EF4-FFF2-40B4-BE49-F238E27FC236}">
                <a16:creationId xmlns:a16="http://schemas.microsoft.com/office/drawing/2014/main" id="{27BEDD1E-78AF-400B-8483-5D1ED826D879}"/>
              </a:ext>
            </a:extLst>
          </p:cNvPr>
          <p:cNvSpPr>
            <a:spLocks xmlns:a="http://schemas.openxmlformats.org/drawingml/2006/main" noGrp="1"/>
          </p:cNvSpPr>
          <p:nvPr/>
        </p:nvSpPr>
        <p:spPr>
          <a:xfrm xmlns:a="http://schemas.openxmlformats.org/drawingml/2006/main">
            <a:off x="609600" y="4324350"/>
            <a:ext cx="4333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42C40"/>
                </a:solidFill>
                <a:latin typeface="Apple SD Gothic Neo"/>
                <a:ea typeface="Apple SD Gothic Neo"/>
                <a:cs typeface="Apple SD Gothic Neo"/>
              </a:defRPr>
            </a:pPr>
            <a:r>
              <a:rPr sz="1950" b="0">
                <a:solidFill>
                  <a:srgbClr val="142C40"/>
                </a:solidFill>
                <a:latin typeface="Apple SD Gothic Neo"/>
                <a:ea typeface="Apple SD Gothic Neo"/>
                <a:cs typeface="Apple SD Gothic Neo"/>
              </a:rPr>
              <a:t>마감·면담·공지 일정을 한 달력에 모아</a:t>
            </a:r>
          </a:p>
          <a:p xmlns:a="http://schemas.openxmlformats.org/drawingml/2006/main">
            <a:pPr>
              <a:defRPr sz="1950" b="0">
                <a:solidFill>
                  <a:srgbClr val="142C40"/>
                </a:solidFill>
                <a:latin typeface="Apple SD Gothic Neo"/>
                <a:ea typeface="Apple SD Gothic Neo"/>
                <a:cs typeface="Apple SD Gothic Neo"/>
              </a:defRPr>
            </a:pPr>
            <a:r>
              <a:rPr sz="1950" b="0">
                <a:solidFill>
                  <a:srgbClr val="142C40"/>
                </a:solidFill>
                <a:latin typeface="Apple SD Gothic Neo"/>
                <a:ea typeface="Apple SD Gothic Neo"/>
                <a:cs typeface="Apple SD Gothic Neo"/>
              </a:rPr>
              <a:t>전공별 색상과 필터로 비교합니다.</a:t>
            </a:r>
          </a:p>
        </p:txBody>
      </p:sp>
      <p:sp>
        <p:nvSpPr>
          <p:cNvPr id="8" name="신청부터 보완까지 연결">
            <a:extLst xmlns:a="http://schemas.openxmlformats.org/drawingml/2006/main">
              <a:ext uri="{FF2B5EF4-FFF2-40B4-BE49-F238E27FC236}">
                <a16:creationId xmlns:a16="http://schemas.microsoft.com/office/drawing/2014/main" id="{076D0168-AB6C-4F74-96ED-634B9F18716C}"/>
              </a:ext>
            </a:extLst>
          </p:cNvPr>
          <p:cNvSpPr>
            <a:spLocks xmlns:a="http://schemas.openxmlformats.org/drawingml/2006/main" noGrp="1"/>
          </p:cNvSpPr>
          <p:nvPr/>
        </p:nvSpPr>
        <p:spPr>
          <a:xfrm xmlns:a="http://schemas.openxmlformats.org/drawingml/2006/main">
            <a:off x="609600" y="53816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7E82"/>
                </a:solidFill>
                <a:latin typeface="Apple SD Gothic Neo"/>
                <a:ea typeface="Apple SD Gothic Neo"/>
                <a:cs typeface="Apple SD Gothic Neo"/>
              </a:defRPr>
            </a:pPr>
            <a:r>
              <a:rPr sz="2175" b="1">
                <a:solidFill>
                  <a:srgbClr val="007E82"/>
                </a:solidFill>
                <a:latin typeface="Apple SD Gothic Neo"/>
                <a:ea typeface="Apple SD Gothic Neo"/>
                <a:cs typeface="Apple SD Gothic Neo"/>
              </a:rPr>
              <a:t>신청부터 보완까지 연결</a:t>
            </a:r>
          </a:p>
        </p:txBody>
      </p:sp>
      <p:sp>
        <p:nvSpPr>
          <p:cNvPr id="9" name="교수 탐색, 자료 제출, 면담 시간 선택,&#10;피드백 확인을 ">
            <a:extLst xmlns:a="http://schemas.openxmlformats.org/drawingml/2006/main">
              <a:ext uri="{FF2B5EF4-FFF2-40B4-BE49-F238E27FC236}">
                <a16:creationId xmlns:a16="http://schemas.microsoft.com/office/drawing/2014/main" id="{9943DCB8-7E24-4A4B-8DC4-7AC06A31013A}"/>
              </a:ext>
            </a:extLst>
          </p:cNvPr>
          <p:cNvSpPr>
            <a:spLocks xmlns:a="http://schemas.openxmlformats.org/drawingml/2006/main" noGrp="1"/>
          </p:cNvSpPr>
          <p:nvPr/>
        </p:nvSpPr>
        <p:spPr>
          <a:xfrm xmlns:a="http://schemas.openxmlformats.org/drawingml/2006/main">
            <a:off x="609600" y="5838825"/>
            <a:ext cx="4476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42C40"/>
                </a:solidFill>
                <a:latin typeface="Apple SD Gothic Neo"/>
                <a:ea typeface="Apple SD Gothic Neo"/>
                <a:cs typeface="Apple SD Gothic Neo"/>
              </a:defRPr>
            </a:pPr>
            <a:r>
              <a:rPr sz="1875" b="0">
                <a:solidFill>
                  <a:srgbClr val="142C40"/>
                </a:solidFill>
                <a:latin typeface="Apple SD Gothic Neo"/>
                <a:ea typeface="Apple SD Gothic Neo"/>
                <a:cs typeface="Apple SD Gothic Neo"/>
              </a:rPr>
              <a:t>교수 탐색, 자료 제출, 면담 시간 선택,</a:t>
            </a:r>
          </a:p>
          <a:p xmlns:a="http://schemas.openxmlformats.org/drawingml/2006/main">
            <a:pPr>
              <a:defRPr sz="1875" b="0">
                <a:solidFill>
                  <a:srgbClr val="142C40"/>
                </a:solidFill>
                <a:latin typeface="Apple SD Gothic Neo"/>
                <a:ea typeface="Apple SD Gothic Neo"/>
                <a:cs typeface="Apple SD Gothic Neo"/>
              </a:defRPr>
            </a:pPr>
            <a:r>
              <a:rPr sz="1875" b="0">
                <a:solidFill>
                  <a:srgbClr val="142C40"/>
                </a:solidFill>
                <a:latin typeface="Apple SD Gothic Neo"/>
                <a:ea typeface="Apple SD Gothic Neo"/>
                <a:cs typeface="Apple SD Gothic Neo"/>
              </a:rPr>
              <a:t>피드백 확인을 같은 화면에서 처리합니다.</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aa50a1813d84290"/>
          <a:srcRect xmlns:a="http://schemas.openxmlformats.org/drawingml/2006/main" l="0" t="10146" r="0" b="10146"/>
          <a:stretch xmlns:a="http://schemas.openxmlformats.org/drawingml/2006/main">
            <a:fillRect l="0" t="0" r="0" b="0"/>
          </a:stretch>
        </p:blipFill>
        <p:spPr>
          <a:xfrm xmlns:a="http://schemas.openxmlformats.org/drawingml/2006/main">
            <a:off x="5219700" y="2266950"/>
            <a:ext cx="6362700" cy="3276600"/>
          </a:xfrm>
          <a:prstGeom xmlns:a="http://schemas.openxmlformats.org/drawingml/2006/main" prst="rect">
            <a:avLst/>
          </a:prstGeom>
        </p:spPr>
      </p:pic>
      <p:sp>
        <p:nvSpPr>
          <p:cNvPr id="11" name="전공 요약과 다음 할 일 · 실제 데모 화면">
            <a:extLst xmlns:a="http://schemas.openxmlformats.org/drawingml/2006/main">
              <a:ext uri="{FF2B5EF4-FFF2-40B4-BE49-F238E27FC236}">
                <a16:creationId xmlns:a16="http://schemas.microsoft.com/office/drawing/2014/main" id="{3F254D23-1B2C-45FD-B305-F57DC14D9099}"/>
              </a:ext>
            </a:extLst>
          </p:cNvPr>
          <p:cNvSpPr>
            <a:spLocks xmlns:a="http://schemas.openxmlformats.org/drawingml/2006/main" noGrp="1"/>
          </p:cNvSpPr>
          <p:nvPr/>
        </p:nvSpPr>
        <p:spPr>
          <a:xfrm xmlns:a="http://schemas.openxmlformats.org/drawingml/2006/main">
            <a:off x="5257800" y="5791200"/>
            <a:ext cx="619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36777"/>
                </a:solidFill>
                <a:latin typeface="Apple SD Gothic Neo"/>
                <a:ea typeface="Apple SD Gothic Neo"/>
                <a:cs typeface="Apple SD Gothic Neo"/>
              </a:defRPr>
            </a:pPr>
            <a:r>
              <a:rPr sz="1500" b="0">
                <a:solidFill>
                  <a:srgbClr val="536777"/>
                </a:solidFill>
                <a:latin typeface="Apple SD Gothic Neo"/>
                <a:ea typeface="Apple SD Gothic Neo"/>
                <a:cs typeface="Apple SD Gothic Neo"/>
              </a:rPr>
              <a:t>전공 요약과 다음 할 일 · 실제 데모 화면</a:t>
            </a:r>
          </a:p>
        </p:txBody>
      </p:sp>
      <p:sp>
        <p:nvSpPr>
          <p:cNvPr id="12" name="학과 절차·인물·일정은 가상 예시입니다.">
            <a:extLst xmlns:a="http://schemas.openxmlformats.org/drawingml/2006/main">
              <a:ext uri="{FF2B5EF4-FFF2-40B4-BE49-F238E27FC236}">
                <a16:creationId xmlns:a16="http://schemas.microsoft.com/office/drawing/2014/main" id="{E1A75251-20A2-4BE6-BD47-16CD4073F7C6}"/>
              </a:ext>
            </a:extLst>
          </p:cNvPr>
          <p:cNvSpPr>
            <a:spLocks xmlns:a="http://schemas.openxmlformats.org/drawingml/2006/main" noGrp="1"/>
          </p:cNvSpPr>
          <p:nvPr/>
        </p:nvSpPr>
        <p:spPr>
          <a:xfrm xmlns:a="http://schemas.openxmlformats.org/drawingml/2006/main">
            <a:off x="5257800" y="6153150"/>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학과 절차·인물·일정은 가상 예시입니다.</a:t>
            </a:r>
          </a:p>
        </p:txBody>
      </p:sp>
    </p:spTree>
    <p:extLst>
      <p:ext uri="{BB962C8B-B14F-4D97-AF65-F5344CB8AC3E}">
        <p14:creationId xmlns:p14="http://schemas.microsoft.com/office/powerpoint/2010/main" val="653059540"/>
      </p:ext>
    </p:extLst>
  </p:cSld>
</p:sld>
</file>

<file path=ppt/slides/slide5.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7" name="교수와 학과 조교까지 이어지는 업무 흐름">
            <a:extLst xmlns:a="http://schemas.openxmlformats.org/drawingml/2006/main">
              <a:ext uri="{FF2B5EF4-FFF2-40B4-BE49-F238E27FC236}">
                <a16:creationId xmlns:a16="http://schemas.microsoft.com/office/drawing/2014/main" id="{0A33A956-73A5-4A59-BD19-8440B36F5212}"/>
              </a:ext>
            </a:extLst>
          </p:cNvPr>
          <p:cNvSpPr>
            <a:spLocks xmlns:a="http://schemas.openxmlformats.org/drawingml/2006/main" noGrp="1"/>
          </p:cNvSpPr>
          <p:nvPr/>
        </p:nvSpPr>
        <p:spPr>
          <a:xfrm xmlns:a="http://schemas.openxmlformats.org/drawingml/2006/main">
            <a:off x="609600" y="4953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42C40"/>
                </a:solidFill>
                <a:latin typeface="Apple SD Gothic Neo"/>
                <a:ea typeface="Apple SD Gothic Neo"/>
                <a:cs typeface="Apple SD Gothic Neo"/>
              </a:defRPr>
            </a:pPr>
            <a:r>
              <a:rPr sz="3300" b="1">
                <a:solidFill>
                  <a:srgbClr val="142C40"/>
                </a:solidFill>
                <a:latin typeface="Apple SD Gothic Neo"/>
                <a:ea typeface="Apple SD Gothic Neo"/>
                <a:cs typeface="Apple SD Gothic Neo"/>
              </a:rPr>
              <a:t>교수와 학과 조교까지 이어지는 업무 흐름</a:t>
            </a:r>
          </a:p>
        </p:txBody>
      </p:sp>
      <p:sp>
        <p:nvSpPr>
          <p:cNvPr id="2" name="05">
            <a:extLst xmlns:a="http://schemas.openxmlformats.org/drawingml/2006/main">
              <a:ext uri="{FF2B5EF4-FFF2-40B4-BE49-F238E27FC236}">
                <a16:creationId xmlns:a16="http://schemas.microsoft.com/office/drawing/2014/main" id="{BE9ACE0C-7857-48BE-BD94-1EADC4575002}"/>
              </a:ext>
            </a:extLst>
          </p:cNvPr>
          <p:cNvSpPr>
            <a:spLocks xmlns:a="http://schemas.openxmlformats.org/drawingml/2006/main" noGrp="1"/>
          </p:cNvSpPr>
          <p:nvPr/>
        </p:nvSpPr>
        <p:spPr>
          <a:xfrm xmlns:a="http://schemas.openxmlformats.org/drawingml/2006/main">
            <a:off x="11163300" y="62674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05</a:t>
            </a:r>
          </a:p>
        </p:txBody>
      </p:sp>
      <p:sp>
        <p:nvSpPr>
          <p:cNvPr id="3" name="학과가 절차를 게시하고, 학생의 제출과 교수의 검토를 같은">
            <a:extLst xmlns:a="http://schemas.openxmlformats.org/drawingml/2006/main">
              <a:ext uri="{FF2B5EF4-FFF2-40B4-BE49-F238E27FC236}">
                <a16:creationId xmlns:a16="http://schemas.microsoft.com/office/drawing/2014/main" id="{7B57F324-D626-49E8-8109-2DE009EBACD5}"/>
              </a:ext>
            </a:extLst>
          </p:cNvPr>
          <p:cNvSpPr>
            <a:spLocks xmlns:a="http://schemas.openxmlformats.org/drawingml/2006/main" noGrp="1"/>
          </p:cNvSpPr>
          <p:nvPr/>
        </p:nvSpPr>
        <p:spPr>
          <a:xfrm xmlns:a="http://schemas.openxmlformats.org/drawingml/2006/main">
            <a:off x="628650" y="1381125"/>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36777"/>
                </a:solidFill>
                <a:latin typeface="Apple SD Gothic Neo"/>
                <a:ea typeface="Apple SD Gothic Neo"/>
                <a:cs typeface="Apple SD Gothic Neo"/>
              </a:defRPr>
            </a:pPr>
            <a:r>
              <a:rPr sz="2025" b="0">
                <a:solidFill>
                  <a:srgbClr val="536777"/>
                </a:solidFill>
                <a:latin typeface="Apple SD Gothic Neo"/>
                <a:ea typeface="Apple SD Gothic Neo"/>
                <a:cs typeface="Apple SD Gothic Neo"/>
              </a:rPr>
              <a:t>학과가 절차를 게시하고, 학생의 제출과 교수의 검토를 같은 진행 정보에 연결합니다.</a:t>
            </a:r>
          </a:p>
        </p:txBody>
      </p:sp>
      <p:graphicFrame>
        <p:nvGraphicFramePr>
          <p:cNvPr id="10" name=""/>
          <p:cNvGraphicFramePr/>
          <p:nvPr/>
        </p:nvGraphicFramePr>
        <p:xfrm>
          <a:off xmlns:a="http://schemas.openxmlformats.org/drawingml/2006/main" x="609600" y="2181225"/>
          <a:ext xmlns:a="http://schemas.openxmlformats.org/drawingml/2006/main" cx="10972800" cy="3362325"/>
        </p:xfrm>
        <a:graphic xmlns:a="http://schemas.openxmlformats.org/drawingml/2006/main">
          <a:graphicData uri="http://schemas.openxmlformats.org/drawingml/2006/table">
            <a:tbl>
              <a:tblPr/>
              <a:tblGrid>
                <a:gridCol w="2190750"/>
                <a:gridCol w="4762500"/>
                <a:gridCol w="4019550"/>
              </a:tblGrid>
              <a:tr h="523875">
                <a:tc>
                  <a:txBody>
                    <a:bodyPr>
                      <a:noAutofit/>
                    </a:bodyPr>
                    <a:lstStyle/>
                    <a:p>
                      <a:r>
                        <a:rPr sz="1725" b="1">
                          <a:solidFill>
                            <a:srgbClr val="FFFFFF"/>
                          </a:solidFill>
                          <a:latin typeface="Apple SD Gothic Neo"/>
                          <a:ea typeface="Apple SD Gothic Neo"/>
                          <a:cs typeface="Apple SD Gothic Neo"/>
                        </a:rPr>
                        <a:t>역할</a:t>
                      </a:r>
                    </a:p>
                  </a:txBody>
                  <a:tcPr marL="190500" marR="171450" marT="123825" marB="114300" anchor="ctr">
                    <a:solidFill>
                      <a:srgbClr val="142C40"/>
                    </a:solidFill>
                  </a:tcPr>
                </a:tc>
                <a:tc>
                  <a:txBody>
                    <a:bodyPr>
                      <a:noAutofit/>
                    </a:bodyPr>
                    <a:lstStyle/>
                    <a:p>
                      <a:r>
                        <a:rPr sz="1725" b="1">
                          <a:solidFill>
                            <a:srgbClr val="FFFFFF"/>
                          </a:solidFill>
                          <a:latin typeface="Apple SD Gothic Neo"/>
                          <a:ea typeface="Apple SD Gothic Neo"/>
                          <a:cs typeface="Apple SD Gothic Neo"/>
                        </a:rPr>
                        <a:t>현재 구현된 기능</a:t>
                      </a:r>
                    </a:p>
                  </a:txBody>
                  <a:tcPr marL="190500" marR="171450" marT="123825" marB="114300" anchor="ctr">
                    <a:solidFill>
                      <a:srgbClr val="142C40"/>
                    </a:solidFill>
                  </a:tcPr>
                </a:tc>
                <a:tc>
                  <a:txBody>
                    <a:bodyPr>
                      <a:noAutofit/>
                    </a:bodyPr>
                    <a:lstStyle/>
                    <a:p>
                      <a:r>
                        <a:rPr sz="1725" b="1">
                          <a:solidFill>
                            <a:srgbClr val="FFFFFF"/>
                          </a:solidFill>
                          <a:latin typeface="Apple SD Gothic Neo"/>
                          <a:ea typeface="Apple SD Gothic Neo"/>
                          <a:cs typeface="Apple SD Gothic Neo"/>
                        </a:rPr>
                        <a:t>연결되는 정보</a:t>
                      </a:r>
                    </a:p>
                  </a:txBody>
                  <a:tcPr marL="190500" marR="171450" marT="123825" marB="114300" anchor="ctr">
                    <a:solidFill>
                      <a:srgbClr val="142C40"/>
                    </a:solidFill>
                  </a:tcPr>
                </a:tc>
              </a:tr>
              <a:tr h="895350">
                <a:tc>
                  <a:txBody>
                    <a:bodyPr>
                      <a:noAutofit/>
                    </a:bodyPr>
                    <a:lstStyle/>
                    <a:p>
                      <a:r>
                        <a:rPr sz="1875" b="1">
                          <a:solidFill>
                            <a:srgbClr val="142C40"/>
                          </a:solidFill>
                          <a:latin typeface="Apple SD Gothic Neo"/>
                          <a:ea typeface="Apple SD Gothic Neo"/>
                          <a:cs typeface="Apple SD Gothic Neo"/>
                        </a:rPr>
                        <a:t>학생</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지도 신청·계획서·최종논문 제출</a:t>
                      </a:r>
                    </a:p>
                    <a:p>
                      <a:r>
                        <a:rPr sz="1875" b="0">
                          <a:solidFill>
                            <a:srgbClr val="142C40"/>
                          </a:solidFill>
                          <a:latin typeface="Apple SD Gothic Neo"/>
                          <a:ea typeface="Apple SD Gothic Neo"/>
                          <a:cs typeface="Apple SD Gothic Neo"/>
                        </a:rPr>
                        <a:t>제안받은 면담 시간 선택</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제출 상태와 피드백 확인</a:t>
                      </a:r>
                    </a:p>
                    <a:p>
                      <a:r>
                        <a:rPr sz="1875" b="0">
                          <a:solidFill>
                            <a:srgbClr val="142C40"/>
                          </a:solidFill>
                          <a:latin typeface="Apple SD Gothic Neo"/>
                          <a:ea typeface="Apple SD Gothic Neo"/>
                          <a:cs typeface="Apple SD Gothic Neo"/>
                        </a:rPr>
                        <a:t>자신의 다음 단계 진행</a:t>
                      </a:r>
                    </a:p>
                  </a:txBody>
                  <a:tcPr marL="190500" marR="171450" marT="123825" marB="114300" anchor="ctr">
                    <a:solidFill>
                      <a:srgbClr val="FFFFFF"/>
                    </a:solidFill>
                  </a:tcPr>
                </a:tc>
              </a:tr>
              <a:tr h="895350">
                <a:tc>
                  <a:txBody>
                    <a:bodyPr>
                      <a:noAutofit/>
                    </a:bodyPr>
                    <a:lstStyle/>
                    <a:p>
                      <a:r>
                        <a:rPr sz="1875" b="1">
                          <a:solidFill>
                            <a:srgbClr val="142C40"/>
                          </a:solidFill>
                          <a:latin typeface="Apple SD Gothic Neo"/>
                          <a:ea typeface="Apple SD Gothic Neo"/>
                          <a:cs typeface="Apple SD Gothic Neo"/>
                        </a:rPr>
                        <a:t>교수</a:t>
                      </a:r>
                    </a:p>
                  </a:txBody>
                  <a:tcPr marL="190500" marR="171450" marT="123825" marB="114300" anchor="ctr">
                    <a:solidFill>
                      <a:srgbClr val="EAF0ED"/>
                    </a:solidFill>
                  </a:tcPr>
                </a:tc>
                <a:tc>
                  <a:txBody>
                    <a:bodyPr>
                      <a:noAutofit/>
                    </a:bodyPr>
                    <a:lstStyle/>
                    <a:p>
                      <a:r>
                        <a:rPr sz="1875" b="0">
                          <a:solidFill>
                            <a:srgbClr val="142C40"/>
                          </a:solidFill>
                          <a:latin typeface="Apple SD Gothic Neo"/>
                          <a:ea typeface="Apple SD Gothic Neo"/>
                          <a:cs typeface="Apple SD Gothic Neo"/>
                        </a:rPr>
                        <a:t>신청과 제출물 검토·승인·수정 요청</a:t>
                      </a:r>
                    </a:p>
                    <a:p>
                      <a:r>
                        <a:rPr sz="1875" b="0">
                          <a:solidFill>
                            <a:srgbClr val="142C40"/>
                          </a:solidFill>
                          <a:latin typeface="Apple SD Gothic Neo"/>
                          <a:ea typeface="Apple SD Gothic Neo"/>
                          <a:cs typeface="Apple SD Gothic Neo"/>
                        </a:rPr>
                        <a:t>면담 시간 제안 및 지도 정원 관리</a:t>
                      </a:r>
                    </a:p>
                  </a:txBody>
                  <a:tcPr marL="190500" marR="171450" marT="123825" marB="114300" anchor="ctr">
                    <a:solidFill>
                      <a:srgbClr val="EAF0ED"/>
                    </a:solidFill>
                  </a:tcPr>
                </a:tc>
                <a:tc>
                  <a:txBody>
                    <a:bodyPr>
                      <a:noAutofit/>
                    </a:bodyPr>
                    <a:lstStyle/>
                    <a:p>
                      <a:r>
                        <a:rPr sz="1875" b="0">
                          <a:solidFill>
                            <a:srgbClr val="142C40"/>
                          </a:solidFill>
                          <a:latin typeface="Apple SD Gothic Neo"/>
                          <a:ea typeface="Apple SD Gothic Neo"/>
                          <a:cs typeface="Apple SD Gothic Neo"/>
                        </a:rPr>
                        <a:t>검토 결과와 보완 의견 전달</a:t>
                      </a:r>
                    </a:p>
                    <a:p>
                      <a:r>
                        <a:rPr sz="1875" b="0">
                          <a:solidFill>
                            <a:srgbClr val="142C40"/>
                          </a:solidFill>
                          <a:latin typeface="Apple SD Gothic Neo"/>
                          <a:ea typeface="Apple SD Gothic Neo"/>
                          <a:cs typeface="Apple SD Gothic Neo"/>
                        </a:rPr>
                        <a:t>승인 인원과 남은 자리 반영</a:t>
                      </a:r>
                    </a:p>
                  </a:txBody>
                  <a:tcPr marL="190500" marR="171450" marT="123825" marB="114300" anchor="ctr">
                    <a:solidFill>
                      <a:srgbClr val="EAF0ED"/>
                    </a:solidFill>
                  </a:tcPr>
                </a:tc>
              </a:tr>
              <a:tr h="1047750">
                <a:tc>
                  <a:txBody>
                    <a:bodyPr>
                      <a:noAutofit/>
                    </a:bodyPr>
                    <a:lstStyle/>
                    <a:p>
                      <a:r>
                        <a:rPr sz="1875" b="1">
                          <a:solidFill>
                            <a:srgbClr val="142C40"/>
                          </a:solidFill>
                          <a:latin typeface="Apple SD Gothic Neo"/>
                          <a:ea typeface="Apple SD Gothic Neo"/>
                          <a:cs typeface="Apple SD Gothic Neo"/>
                        </a:rPr>
                        <a:t>학과 조교</a:t>
                      </a:r>
                    </a:p>
                    <a:p>
                      <a:r>
                        <a:rPr sz="1875" b="1">
                          <a:solidFill>
                            <a:srgbClr val="142C40"/>
                          </a:solidFill>
                          <a:latin typeface="Apple SD Gothic Neo"/>
                          <a:ea typeface="Apple SD Gothic Neo"/>
                          <a:cs typeface="Apple SD Gothic Neo"/>
                        </a:rPr>
                        <a:t>(행정 역할)</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학과별 단계·마감·서식 편집 및 게시</a:t>
                      </a:r>
                    </a:p>
                    <a:p>
                      <a:r>
                        <a:rPr sz="1875" b="0">
                          <a:solidFill>
                            <a:srgbClr val="142C40"/>
                          </a:solidFill>
                          <a:latin typeface="Apple SD Gothic Neo"/>
                          <a:ea typeface="Apple SD Gothic Neo"/>
                          <a:cs typeface="Apple SD Gothic Neo"/>
                        </a:rPr>
                        <a:t>대상별 공지 작성·학생 진행 현황 조회</a:t>
                      </a:r>
                    </a:p>
                  </a:txBody>
                  <a:tcPr marL="190500" marR="171450" marT="123825" marB="114300" anchor="ctr">
                    <a:solidFill>
                      <a:srgbClr val="FFFFFF"/>
                    </a:solidFill>
                  </a:tcPr>
                </a:tc>
                <a:tc>
                  <a:txBody>
                    <a:bodyPr>
                      <a:noAutofit/>
                    </a:bodyPr>
                    <a:lstStyle/>
                    <a:p>
                      <a:r>
                        <a:rPr sz="1875" b="0">
                          <a:solidFill>
                            <a:srgbClr val="142C40"/>
                          </a:solidFill>
                          <a:latin typeface="Apple SD Gothic Neo"/>
                          <a:ea typeface="Apple SD Gothic Neo"/>
                          <a:cs typeface="Apple SD Gothic Neo"/>
                        </a:rPr>
                        <a:t>게시한 절차를 로드맵에 반영</a:t>
                      </a:r>
                    </a:p>
                    <a:p>
                      <a:r>
                        <a:rPr sz="1875" b="0">
                          <a:solidFill>
                            <a:srgbClr val="142C40"/>
                          </a:solidFill>
                          <a:latin typeface="Apple SD Gothic Neo"/>
                          <a:ea typeface="Apple SD Gothic Neo"/>
                          <a:cs typeface="Apple SD Gothic Neo"/>
                        </a:rPr>
                        <a:t>주전공·복수전공에 맞는 공지 제공</a:t>
                      </a:r>
                    </a:p>
                  </a:txBody>
                  <a:tcPr marL="190500" marR="171450" marT="123825" marB="114300" anchor="ctr">
                    <a:solidFill>
                      <a:srgbClr val="FFFFFF"/>
                    </a:solidFill>
                  </a:tcPr>
                </a:tc>
              </a:tr>
            </a:tbl>
          </a:graphicData>
        </a:graphic>
      </p:graphicFrame>
      <p:sp>
        <p:nvSpPr>
          <p:cNvPr id="5" name="목표: 공지를 찾아 헤매는 시간을 줄이고, 지금 해야 할 ">
            <a:extLst xmlns:a="http://schemas.openxmlformats.org/drawingml/2006/main">
              <a:ext uri="{FF2B5EF4-FFF2-40B4-BE49-F238E27FC236}">
                <a16:creationId xmlns:a16="http://schemas.microsoft.com/office/drawing/2014/main" id="{625D2BFC-740A-4029-B692-B4EF7CC7EF2B}"/>
              </a:ext>
            </a:extLst>
          </p:cNvPr>
          <p:cNvSpPr>
            <a:spLocks xmlns:a="http://schemas.openxmlformats.org/drawingml/2006/main" noGrp="1"/>
          </p:cNvSpPr>
          <p:nvPr/>
        </p:nvSpPr>
        <p:spPr>
          <a:xfrm xmlns:a="http://schemas.openxmlformats.org/drawingml/2006/main">
            <a:off x="628650" y="58388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7E82"/>
                </a:solidFill>
                <a:latin typeface="Apple SD Gothic Neo"/>
                <a:ea typeface="Apple SD Gothic Neo"/>
                <a:cs typeface="Apple SD Gothic Neo"/>
              </a:defRPr>
            </a:pPr>
            <a:r>
              <a:rPr sz="2175" b="1">
                <a:solidFill>
                  <a:srgbClr val="007E82"/>
                </a:solidFill>
                <a:latin typeface="Apple SD Gothic Neo"/>
                <a:ea typeface="Apple SD Gothic Neo"/>
                <a:cs typeface="Apple SD Gothic Neo"/>
              </a:rPr>
              <a:t>목표: 공지를 찾아 헤매는 시간을 줄이고, 지금 해야 할 일을 분명하게</a:t>
            </a:r>
          </a:p>
        </p:txBody>
      </p:sp>
      <p:sp>
        <p:nvSpPr>
          <p:cNvPr id="6" name="현재는 가상 데이터 기반 브라우저 데모이며, 실제 학사 시">
            <a:extLst xmlns:a="http://schemas.openxmlformats.org/drawingml/2006/main">
              <a:ext uri="{FF2B5EF4-FFF2-40B4-BE49-F238E27FC236}">
                <a16:creationId xmlns:a16="http://schemas.microsoft.com/office/drawing/2014/main" id="{DBD63DBE-B4C7-429C-848C-75B7D3A69862}"/>
              </a:ext>
            </a:extLst>
          </p:cNvPr>
          <p:cNvSpPr>
            <a:spLocks xmlns:a="http://schemas.openxmlformats.org/drawingml/2006/main" noGrp="1"/>
          </p:cNvSpPr>
          <p:nvPr/>
        </p:nvSpPr>
        <p:spPr>
          <a:xfrm xmlns:a="http://schemas.openxmlformats.org/drawingml/2006/main">
            <a:off x="628650" y="63341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36777"/>
                </a:solidFill>
                <a:latin typeface="Apple SD Gothic Neo"/>
                <a:ea typeface="Apple SD Gothic Neo"/>
                <a:cs typeface="Apple SD Gothic Neo"/>
              </a:defRPr>
            </a:pPr>
            <a:r>
              <a:rPr sz="1350" b="0">
                <a:solidFill>
                  <a:srgbClr val="536777"/>
                </a:solidFill>
                <a:latin typeface="Apple SD Gothic Neo"/>
                <a:ea typeface="Apple SD Gothic Neo"/>
                <a:cs typeface="Apple SD Gothic Neo"/>
              </a:rPr>
              <a:t>현재는 가상 데이터 기반 브라우저 데모이며, 실제 학사 시스템 연동은 후속 과제입니다.</a:t>
            </a:r>
          </a:p>
        </p:txBody>
      </p:sp>
    </p:spTree>
    <p:extLst>
      <p:ext uri="{BB962C8B-B14F-4D97-AF65-F5344CB8AC3E}">
        <p14:creationId xmlns:p14="http://schemas.microsoft.com/office/powerpoint/2010/main" val="12378960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2026-09-22T00:01:48.4060000Z</dcterms:created>
  <dcterms:modified xsi:type="dcterms:W3CDTF">2026-09-22T00:01:48.4060000Z</dcterms:modified>
</coreProperties>
</file>